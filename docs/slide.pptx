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3108960" cy="292608"/>
          </a:xfrm>
          <a:prstGeom prst="roundRect">
            <a:avLst>
              <a:gd name="adj" fmla="val 18750"/>
            </a:avLst>
          </a:prstGeom>
          <a:solidFill>
            <a:srgbClr val="2A4A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MÁY CƠ BẢN · 221180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BÀI TẬP LỚN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DỰ ĐOÁN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 CƠ ĐỘT QUỴ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38100">
            <a:solidFill>
              <a:srgbClr val="C832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Lớp: 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12523W.2
</a:t>
            </a: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Nguyễn Đức Tuấn Anh
</a:t>
            </a: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17_12523101_10123337_DuDoanDotQuy  ·  Tài liệu v2.0 (23/09/2026)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TÓM TẮT TỔNG QUAN HỆ THỐNG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toán: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nhị phân — dự đoán nguy cơ đột quỵ (stroke = 1) hay không (stroke = 0). Do đặc thù y tế, hệ thống ưu tiên giảm thiểu tối đa Âm tính giả (False Negative).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20824"/>
            <a:ext cx="530352" cy="530352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8" dirty="0"/>
          </a:p>
        </p:txBody>
      </p:sp>
      <p:sp>
        <p:nvSpPr>
          <p:cNvPr id="7" name="Text 5"/>
          <p:cNvSpPr/>
          <p:nvPr/>
        </p:nvSpPr>
        <p:spPr>
          <a:xfrm>
            <a:off x="1481328" y="20025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Prediction Dataset (Kaggle, ODbL) — 5,110 bản ghi, 11 đặc trưng. Repo hiện dùng dữ liệu giả lập (synthetic) do môi trường không truy cập được Kaggle trực tiếp.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2020824"/>
            <a:ext cx="530352" cy="530352"/>
          </a:xfrm>
          <a:prstGeom prst="ellipse">
            <a:avLst/>
          </a:prstGeom>
          <a:solidFill>
            <a:srgbClr val="C8323F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8" dirty="0"/>
          </a:p>
        </p:txBody>
      </p:sp>
      <p:sp>
        <p:nvSpPr>
          <p:cNvPr id="12" name="Text 10"/>
          <p:cNvSpPr/>
          <p:nvPr/>
        </p:nvSpPr>
        <p:spPr>
          <a:xfrm>
            <a:off x="7242048" y="20025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65392" y="258775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4 thuật toán: Logistic Regression (chọn), Naive Bayes, SVM (RBF) và Random Forest. GridSearchCV tối ưu theo Recall.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169664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69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8" dirty="0"/>
          </a:p>
        </p:txBody>
      </p:sp>
      <p:sp>
        <p:nvSpPr>
          <p:cNvPr id="17" name="Text 15"/>
          <p:cNvSpPr/>
          <p:nvPr/>
        </p:nvSpPr>
        <p:spPr>
          <a:xfrm>
            <a:off x="1481328" y="41513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73659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sklearn.pipeline vào model.joblib + candidates/*.joblib, kèm schema.json, metadata.json, training_metadata.json.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4169664"/>
            <a:ext cx="530352" cy="530352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4169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8" dirty="0"/>
          </a:p>
        </p:txBody>
      </p:sp>
      <p:sp>
        <p:nvSpPr>
          <p:cNvPr id="22" name="Text 20"/>
          <p:cNvSpPr/>
          <p:nvPr/>
        </p:nvSpPr>
        <p:spPr>
          <a:xfrm>
            <a:off x="7242048" y="41513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65392" y="473659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container hóa bằng Docker Compose (FE/BE/AI Service), public qua ngrok Tunnel; BE &amp; AI Service có thể deploy Render, FE deploy Vercel.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BF2DD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9893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Lưu ý:  </a:t>
            </a:r>
            <a:pPr algn="l" indent="0" marL="0">
              <a:buNone/>
            </a:pPr>
            <a:r>
              <a:rPr lang="en-US" sz="108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trong báo cáo này chạy trên dữ liệu giả lập; sẽ khác khi thay bằng dataset Kaggle thật (xem ai-models/data/DATA.md).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E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NHÓM THỰC HIỆN &amp; QUY ƯỚC REPOSITORY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949440" cy="5212080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89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 viên nhóm 17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400800" cy="2057400"/>
          </a:xfrm>
          <a:prstGeom prst="roundRect">
            <a:avLst>
              <a:gd name="adj" fmla="val 2667"/>
            </a:avLst>
          </a:prstGeom>
          <a:solidFill>
            <a:srgbClr val="EEF2F8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130552"/>
            <a:ext cx="502920" cy="50292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0756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Nguyễn Thế Phong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37360" y="23865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MSSV 12523101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209397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939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nhóm — EDA dữ liệu, huấn luyện Logistic Regression &amp; Random Forest, xây dựng AI Service (FastAPI) + Dockerize, xây dựng Frontend (React).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6400800" cy="2057400"/>
          </a:xfrm>
          <a:prstGeom prst="roundRect">
            <a:avLst>
              <a:gd name="adj" fmla="val 2667"/>
            </a:avLst>
          </a:prstGeom>
          <a:solidFill>
            <a:srgbClr val="EE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4416552"/>
            <a:ext cx="502920" cy="502920"/>
          </a:xfrm>
          <a:prstGeom prst="ellipse">
            <a:avLst/>
          </a:prstGeom>
          <a:solidFill>
            <a:srgbClr val="C8323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43616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Quang Trường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37360" y="46725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MSSV 10123337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437997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3799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502920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— huấn luyện SVM &amp; Naive Bayes, xây dựng Backend (Node.js/Express), kết nối MongoDB, deploy Tunnel/Ngrok &amp; Load Test.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1188720"/>
            <a:ext cx="3867912" cy="5212080"/>
          </a:xfrm>
          <a:prstGeom prst="roundRect">
            <a:avLst>
              <a:gd name="adj" fmla="val 1655"/>
            </a:avLst>
          </a:prstGeom>
          <a:solidFill>
            <a:srgbClr val="0E1D38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1389888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ước tên repo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01000" y="1783080"/>
            <a:ext cx="3410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17_12523101_10123337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_DuDoanDotQuy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01000" y="26060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chính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01000" y="2926080"/>
            <a:ext cx="34107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app/frontend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app/backend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ai-models/colab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ai-models/src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ai-models/data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ai-models/models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ai-models/service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docs/figures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.env.example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E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KHÁM PHÁ DỮ LIỆU — EDA (1/3)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074920" cy="21716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D6DDE8"/>
            </a:solidFill>
            <a:prstDash val="solid"/>
          </a:ln>
        </p:spPr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630" y="1463040"/>
            <a:ext cx="2028700" cy="1622960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868680" y="3131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1 — Countplot phân bố nhãn stroke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731520" y="36072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Phân bố biến mục tiêu stroke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936392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= 0: 4,855 ca (95.01%); stroke = 1: 255 ca (4.99%).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31520" y="4466744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mất cân bằng nghiêm trọng (class imbalance). Dùng Accuracy dễ che giấu việc bỏ sót ca dương tính.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31520" y="5161688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dữ liệu bằng stratify, dùng class_weight='balanced', ưu tiên Recall/Precision/F1/ROC-AUC thay vì Accuracy.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309360" y="1143000"/>
            <a:ext cx="544068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325880"/>
            <a:ext cx="5074920" cy="21716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D6DDE8"/>
            </a:solidFill>
            <a:prstDash val="solid"/>
          </a:ln>
        </p:spPr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480" y="1463040"/>
            <a:ext cx="2434440" cy="1622960"/>
          </a:xfrm>
          <a:prstGeom prst="rect">
            <a:avLst/>
          </a:prstGeom>
        </p:spPr>
      </p:pic>
      <p:sp>
        <p:nvSpPr>
          <p:cNvPr id="18" name="Text 16"/>
          <p:cNvSpPr/>
          <p:nvPr/>
        </p:nvSpPr>
        <p:spPr>
          <a:xfrm>
            <a:off x="6629400" y="3131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2 — Giá trị thiếu theo cột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492240" y="36072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Ma trận dữ liệu thiếu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3936392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bmi thiếu 200/5,110 giá trị (~3.91%); các cột khác không thiếu.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492240" y="4631336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các dòng thiếu sẽ làm mất dữ liệu, trong đó có thể có ca stroke hiếm.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492240" y="5326280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bmi bằng median học trên tập Train trong Pipeline (SimpleImputer), tránh rò rỉ dữ liệu.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E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KHÁM PHÁ DỮ LIỆU — EDA (2/3)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074920" cy="21716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D6DDE8"/>
            </a:solidFill>
            <a:prstDash val="solid"/>
          </a:ln>
        </p:spPr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34440"/>
            <a:ext cx="4800600" cy="128016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868680" y="3131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3 — Phân phối age / avg_glucose_level / bmi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31520" y="36072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Phân phối các biến số theo stroke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936392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avg_glucose_level, bmi có phân phối khác nhau giữa 2 lớp; nhóm stroke=1 tập trung ở tuổi và glucose cao hơn.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31520" y="4631336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biến số có tín hiệu dự đoán, nhưng khác thang đo và bmi có missing.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31520" y="5326280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median cho biến số, dùng StandardScaler để model tuyến tính/SVM không bị chi phối bởi thang đo.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309360" y="1143000"/>
            <a:ext cx="544068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325880"/>
            <a:ext cx="5074920" cy="21716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D6DDE8"/>
            </a:solidFill>
            <a:prstDash val="solid"/>
          </a:ln>
        </p:spPr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350" y="1463040"/>
            <a:ext cx="2028700" cy="1622960"/>
          </a:xfrm>
          <a:prstGeom prst="rect">
            <a:avLst/>
          </a:prstGeom>
        </p:spPr>
      </p:pic>
      <p:sp>
        <p:nvSpPr>
          <p:cNvPr id="21" name="Text 19"/>
          <p:cNvSpPr/>
          <p:nvPr/>
        </p:nvSpPr>
        <p:spPr>
          <a:xfrm>
            <a:off x="6629400" y="3131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 — Boxplot glucose theo nhãn stroke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492240" y="36072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Glucose trung bình theo nhãn stroke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3936392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so sánh trung vị, IQR và ngoại lai của avg_glucose_level giữa stroke=0 và stroke=1.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492240" y="4631336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cao có thể giúp phân biệt nguy cơ; các giá trị ngoại lai có thể là chỉ số sức khỏe thật, không hẳn là lỗi dữ liệu.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492240" y="5490872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nguyên ngoại lai, không cắt ngưỡng cơ học; để Pipeline chuẩn hóa và model tự học ảnh hưởng.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E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KHÁM PHÁ DỮ LIỆU — EDA (3/3)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074920" cy="21716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D6DDE8"/>
            </a:solidFill>
            <a:prstDash val="solid"/>
          </a:ln>
        </p:spPr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020" y="1463040"/>
            <a:ext cx="3245920" cy="162296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868680" y="3131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5 — smoking_status theo nhãn stroke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31520" y="36072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Tình trạng hút thuốc theo nhãn stroke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936392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bệnh nhân tách theo từng nhóm smoking_status và theo 2 nhãn stroke; nhóm 'Unknown' được giữ riêng.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31520" y="4631336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biến phân loại không có thứ tự số học tự nhiên; ép thành 0,1,2 sẽ tạo quan hệ giả.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31520" y="5326280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mode nếu thiếu, mã hóa One-Hot Encoding với handle_unknown='ignore'.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309360" y="1143000"/>
            <a:ext cx="544068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325880"/>
            <a:ext cx="5074920" cy="21716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 w="12700">
            <a:solidFill>
              <a:srgbClr val="D6DDE8"/>
            </a:solidFill>
            <a:prstDash val="solid"/>
          </a:ln>
        </p:spPr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734" y="1463040"/>
            <a:ext cx="2163932" cy="1622960"/>
          </a:xfrm>
          <a:prstGeom prst="rect">
            <a:avLst/>
          </a:prstGeom>
        </p:spPr>
      </p:pic>
      <p:sp>
        <p:nvSpPr>
          <p:cNvPr id="43" name="Text 41"/>
          <p:cNvSpPr/>
          <p:nvPr/>
        </p:nvSpPr>
        <p:spPr>
          <a:xfrm>
            <a:off x="6629400" y="3131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6 — Ma trận tương quan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6492240" y="36072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Tương quan giữa các đặc trưng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92240" y="3936392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gồm age, avg_glucose_level, bmi, hypertension, heart_disease, stroke — hệ số tương quan ở mức thấp đến vừa phải.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6492240" y="4795928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Giúp nhận diện tín hiệu dự đoán và biến trùng thông tin, nhưng tương quan không chứng minh quan hệ nhân quả.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6492240" y="5490872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định: </a:t>
            </a:r>
            <a:pPr algn="l"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cột id vì chỉ là mã định danh; giữ các đặc trưng còn lại, dùng cross-validation để kiểm tra khả năng tổng quát.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XỬ LÝ DỮ LIỆU (PREPROCESSING PIPELINE)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preprocess.py — Quy trình chống rò rỉ dữ liệu (Data Leakage Prevention)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8623" y="2103120"/>
            <a:ext cx="658368" cy="658368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5" name="Text 3"/>
          <p:cNvSpPr/>
          <p:nvPr/>
        </p:nvSpPr>
        <p:spPr>
          <a:xfrm>
            <a:off x="1328623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2" dirty="0"/>
          </a:p>
        </p:txBody>
      </p:sp>
      <p:sp>
        <p:nvSpPr>
          <p:cNvPr id="6" name="Text 4"/>
          <p:cNvSpPr/>
          <p:nvPr/>
        </p:nvSpPr>
        <p:spPr>
          <a:xfrm>
            <a:off x="621792" y="297180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Loại bỏ id, chia dữ liệu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2035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cột id (chỉ là định danh). Train/Test = 80/20, Stratified theo biến stroke.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0942" y="2359152"/>
            <a:ext cx="292608" cy="182880"/>
          </a:xfrm>
          <a:prstGeom prst="rightArrow">
            <a:avLst/>
          </a:prstGeom>
          <a:solidFill>
            <a:srgbClr val="D6DDE8"/>
          </a:solidFill>
          <a:ln/>
        </p:spPr>
      </p:sp>
      <p:sp>
        <p:nvSpPr>
          <p:cNvPr id="9" name="Shape 7"/>
          <p:cNvSpPr/>
          <p:nvPr/>
        </p:nvSpPr>
        <p:spPr>
          <a:xfrm>
            <a:off x="3546958" y="2103120"/>
            <a:ext cx="658368" cy="658368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10" name="Text 8"/>
          <p:cNvSpPr/>
          <p:nvPr/>
        </p:nvSpPr>
        <p:spPr>
          <a:xfrm>
            <a:off x="3546958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2" dirty="0"/>
          </a:p>
        </p:txBody>
      </p:sp>
      <p:sp>
        <p:nvSpPr>
          <p:cNvPr id="11" name="Text 9"/>
          <p:cNvSpPr/>
          <p:nvPr/>
        </p:nvSpPr>
        <p:spPr>
          <a:xfrm>
            <a:off x="2840126" y="297180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missing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8414" y="3474720"/>
            <a:ext cx="2035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SimpleImputer(strategy='median') cho bmi, fit riêng trên tập Train.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29277" y="2359152"/>
            <a:ext cx="292608" cy="182880"/>
          </a:xfrm>
          <a:prstGeom prst="rightArrow">
            <a:avLst/>
          </a:prstGeom>
          <a:solidFill>
            <a:srgbClr val="D6DDE8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5292" y="2103120"/>
            <a:ext cx="658368" cy="658368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5292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2" dirty="0"/>
          </a:p>
        </p:txBody>
      </p:sp>
      <p:sp>
        <p:nvSpPr>
          <p:cNvPr id="16" name="Text 14"/>
          <p:cNvSpPr/>
          <p:nvPr/>
        </p:nvSpPr>
        <p:spPr>
          <a:xfrm>
            <a:off x="5058461" y="297180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 hóa phân loại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6749" y="3474720"/>
            <a:ext cx="2035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OneHotEncoder(handle_unknown='ignore') cho gender, ever_married, work_type, Residence_type, smoking_status.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7611" y="2359152"/>
            <a:ext cx="292608" cy="182880"/>
          </a:xfrm>
          <a:prstGeom prst="rightArrow">
            <a:avLst/>
          </a:prstGeom>
          <a:solidFill>
            <a:srgbClr val="D6DDE8"/>
          </a:solidFill>
          <a:ln/>
        </p:spPr>
      </p:sp>
      <p:sp>
        <p:nvSpPr>
          <p:cNvPr id="19" name="Shape 17"/>
          <p:cNvSpPr/>
          <p:nvPr/>
        </p:nvSpPr>
        <p:spPr>
          <a:xfrm>
            <a:off x="7983626" y="2103120"/>
            <a:ext cx="658368" cy="658368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20" name="Text 18"/>
          <p:cNvSpPr/>
          <p:nvPr/>
        </p:nvSpPr>
        <p:spPr>
          <a:xfrm>
            <a:off x="798362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2" dirty="0"/>
          </a:p>
        </p:txBody>
      </p:sp>
      <p:sp>
        <p:nvSpPr>
          <p:cNvPr id="21" name="Text 19"/>
          <p:cNvSpPr/>
          <p:nvPr/>
        </p:nvSpPr>
        <p:spPr>
          <a:xfrm>
            <a:off x="7276795" y="297180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Chuẩn hóa biến số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95083" y="3474720"/>
            <a:ext cx="2035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StandardScaler() cho age, avg_glucose_level, bmi — giữ nguyên ngoại lai, không cắt ngưỡng.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65946" y="2359152"/>
            <a:ext cx="292608" cy="182880"/>
          </a:xfrm>
          <a:prstGeom prst="rightArrow">
            <a:avLst/>
          </a:prstGeom>
          <a:solidFill>
            <a:srgbClr val="D6DDE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01961" y="2103120"/>
            <a:ext cx="658368" cy="65836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10201961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72" dirty="0"/>
          </a:p>
        </p:txBody>
      </p:sp>
      <p:sp>
        <p:nvSpPr>
          <p:cNvPr id="26" name="Text 24"/>
          <p:cNvSpPr/>
          <p:nvPr/>
        </p:nvSpPr>
        <p:spPr>
          <a:xfrm>
            <a:off x="9495130" y="2971800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Xuất artifact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13418" y="3474720"/>
            <a:ext cx="2035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schema.json định nghĩa chuẩn tên cột, kiểu dữ liệu, thứ tự và miền giá trị hợp lệ.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6E2E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39496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bước tiền xử lý được đóng gói trong </a:t>
            </a:r>
            <a:pPr algn="l" indent="0" marL="0">
              <a:lnSpc>
                <a:spcPct val="120000"/>
              </a:lnSpc>
              <a:buNone/>
            </a:pPr>
            <a:r>
              <a:rPr lang="en-US" sz="123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sklearn.pipeline.Pipeline</a:t>
            </a:r>
            <a:pPr algn="l"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(ColumnTransformer) để đảm bảo tính nhất quán giữa huấn luyện và suy luận, ngăn rò rỉ dữ liệu từ tập Test.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E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HUẤN LUYỆN 4 MÔ HÌNH (MODEL TRAINING)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— Cùng pipeline tiền xử lý, cùng Stratified Train/Test = 80/20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32888" cy="3429000"/>
          </a:xfrm>
          <a:prstGeom prst="roundRect">
            <a:avLst>
              <a:gd name="adj" fmla="val 2888"/>
            </a:avLst>
          </a:prstGeom>
          <a:solidFill>
            <a:srgbClr val="1B3B6F"/>
          </a:solidFill>
          <a:ln/>
        </p:spPr>
      </p:sp>
      <p:sp>
        <p:nvSpPr>
          <p:cNvPr id="5" name="Shape 3"/>
          <p:cNvSpPr/>
          <p:nvPr/>
        </p:nvSpPr>
        <p:spPr>
          <a:xfrm>
            <a:off x="1504188" y="1856232"/>
            <a:ext cx="621792" cy="621792"/>
          </a:xfrm>
          <a:prstGeom prst="ellipse">
            <a:avLst/>
          </a:prstGeom>
          <a:solidFill>
            <a:srgbClr val="C8323F"/>
          </a:solidFill>
          <a:ln/>
        </p:spPr>
      </p:sp>
      <p:sp>
        <p:nvSpPr>
          <p:cNvPr id="6" name="Text 4"/>
          <p:cNvSpPr/>
          <p:nvPr/>
        </p:nvSpPr>
        <p:spPr>
          <a:xfrm>
            <a:off x="1504188" y="18562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68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27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logistic_regression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tuyến tính với class_weight='balanced'.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29284" y="457200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C8323F"/>
          </a:solidFill>
          <a:ln/>
        </p:spPr>
      </p:sp>
      <p:sp>
        <p:nvSpPr>
          <p:cNvPr id="11" name="Text 9"/>
          <p:cNvSpPr/>
          <p:nvPr/>
        </p:nvSpPr>
        <p:spPr>
          <a:xfrm>
            <a:off x="1129284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CHỌN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01568" y="1600200"/>
            <a:ext cx="2532888" cy="3429000"/>
          </a:xfrm>
          <a:prstGeom prst="roundRect">
            <a:avLst>
              <a:gd name="adj" fmla="val 2888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7116" y="1856232"/>
            <a:ext cx="621792" cy="621792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14" name="Text 12"/>
          <p:cNvSpPr/>
          <p:nvPr/>
        </p:nvSpPr>
        <p:spPr>
          <a:xfrm>
            <a:off x="4357116" y="18562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68" dirty="0"/>
          </a:p>
        </p:txBody>
      </p:sp>
      <p:sp>
        <p:nvSpPr>
          <p:cNvPr id="15" name="Text 13"/>
          <p:cNvSpPr/>
          <p:nvPr/>
        </p:nvSpPr>
        <p:spPr>
          <a:xfrm>
            <a:off x="3538728" y="2651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Naive Bayes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93008" y="3227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naive_bayes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84448" y="365760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phân loại xác suất.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4496" y="1600200"/>
            <a:ext cx="2532888" cy="3429000"/>
          </a:xfrm>
          <a:prstGeom prst="roundRect">
            <a:avLst>
              <a:gd name="adj" fmla="val 2888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10044" y="1856232"/>
            <a:ext cx="621792" cy="621792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20" name="Text 18"/>
          <p:cNvSpPr/>
          <p:nvPr/>
        </p:nvSpPr>
        <p:spPr>
          <a:xfrm>
            <a:off x="7210044" y="18562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68" dirty="0"/>
          </a:p>
        </p:txBody>
      </p:sp>
      <p:sp>
        <p:nvSpPr>
          <p:cNvPr id="21" name="Text 19"/>
          <p:cNvSpPr/>
          <p:nvPr/>
        </p:nvSpPr>
        <p:spPr>
          <a:xfrm>
            <a:off x="6391656" y="2651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45936" y="3227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svm_rbf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37376" y="365760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khoảng cách biên, sử dụng Kernel RBF.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07424" y="1600200"/>
            <a:ext cx="2532888" cy="3429000"/>
          </a:xfrm>
          <a:prstGeom prst="roundRect">
            <a:avLst>
              <a:gd name="adj" fmla="val 2888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2972" y="1856232"/>
            <a:ext cx="621792" cy="621792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26" name="Text 24"/>
          <p:cNvSpPr/>
          <p:nvPr/>
        </p:nvSpPr>
        <p:spPr>
          <a:xfrm>
            <a:off x="10062972" y="18562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68" dirty="0"/>
          </a:p>
        </p:txBody>
      </p:sp>
      <p:sp>
        <p:nvSpPr>
          <p:cNvPr id="27" name="Text 25"/>
          <p:cNvSpPr/>
          <p:nvPr/>
        </p:nvSpPr>
        <p:spPr>
          <a:xfrm>
            <a:off x="9244584" y="2651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98864" y="322783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random_forest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90304" y="365760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tập hợp cây quyết định (Ensemble Bagging).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5780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đánh giá: 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trên tập Train, chọn hyperparameters bằng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GridSearchCV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tối ưu trực tiếp theo chỉ số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(không phải accuracy), vì dữ liệu mất cân bằng nặng.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&amp; CHỌN MÔ HÌNH TỐI ƯU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— kết quả trên dữ liệu giả lập hiện có trong repo (ai-models/models/comparison.json)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16002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005840"/>
                <a:gridCol w="914400"/>
                <a:gridCol w="1005840"/>
                <a:gridCol w="1417320"/>
                <a:gridCol w="1170432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Suy luận/mẫu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Kích thước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C832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logistic_regression (chọn)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8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8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8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8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8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~0.01 ms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8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KB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2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naive_bayes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~0.02 ms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KB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svm_rbf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~0.32 ms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KB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random_forest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~0.08 ms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343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 KB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272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naive_bayes gần như luôn đoán nhãn 1 (model suy biến) → Precision quá thấp, không có giá trị sử dụng thực tế dù Recall tuyệt đối.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3514344" cy="16002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65760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cao &amp; không suy biến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" y="4142232"/>
            <a:ext cx="3148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logistic_regression đạt Recall 0.80, vượt svm_rbf (0.78) và random_forest (0.69), trong khi Precision vẫn ở mức hợp lý (0.18) — không suy biến như naive_bayes.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337304" y="3520440"/>
            <a:ext cx="3514344" cy="16002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/>
        </p:spPr>
      </p:sp>
      <p:sp>
        <p:nvSpPr>
          <p:cNvPr id="10" name="Text 7"/>
          <p:cNvSpPr/>
          <p:nvPr/>
        </p:nvSpPr>
        <p:spPr>
          <a:xfrm>
            <a:off x="4520184" y="365760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tương đương mô hình phức tạp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20184" y="4142232"/>
            <a:ext cx="3148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4 model đạt ROC-AUC ~0.88 — khả năng phân tách gần như ngang nhau, nên yếu tố quyết định chuyển sang Recall/Precision và chi phí vận hành.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8125968" y="3520440"/>
            <a:ext cx="3514344" cy="16002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/>
        </p:spPr>
      </p:sp>
      <p:sp>
        <p:nvSpPr>
          <p:cNvPr id="13" name="Text 10"/>
          <p:cNvSpPr/>
          <p:nvPr/>
        </p:nvSpPr>
        <p:spPr>
          <a:xfrm>
            <a:off x="8308848" y="365760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Tối ưu cho đóng gói &amp; triển khai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308848" y="4142232"/>
            <a:ext cx="3148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nhanh nhất (~0.01ms/mẫu), nhẹ nhất (2.3KB, so với 542KB của Random Forest) — phù hợp container tài nguyên thấp, dễ giải thích cho bác sĩ.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BF2DD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534924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Lưu ý: 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chọn cuối cùng: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(class_weight='balanced'). Số liệu trên chạy từ dữ liệu giả lập trong repo — sẽ khác khi dùng dataset Kaggle thật.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E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GÓI MÔ HÌNH &amp; HỢP ĐỒNG API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114800" cy="530352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53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 (ai-models/models/)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755648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model.joblib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32688" y="212140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được chọn (StandardScaler + OneHotEncoder + Logistic Regression).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EEF2F8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77063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candidates/*.joblib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32688" y="3044952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pipeline ứng viên đã huấn luyện, dùng để so sánh.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777240" y="3602736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EE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694176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schema.json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32688" y="3968496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định input/output validation.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77240" y="452628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61772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metadata.json / training_metadata.json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32688" y="489204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metrics, ngày train, phiên bản thư viện.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777240" y="5632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90702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Service: </a:t>
            </a:r>
            <a:pPr algn="l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/predict, GET /health, /schema, /model-info
</a:t>
            </a:r>
            <a:pPr algn="l" indent="0" marL="0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algn="l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/api/predict, GET /api/schema,</a:t>
            </a:r>
            <a:endParaRPr lang="en-US" sz="9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/api/model-info, /api/history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983480" y="1188720"/>
            <a:ext cx="6656832" cy="5303520"/>
          </a:xfrm>
          <a:prstGeom prst="roundRect">
            <a:avLst>
              <a:gd name="adj" fmla="val 1207"/>
            </a:avLst>
          </a:prstGeom>
          <a:solidFill>
            <a:srgbClr val="12274A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1371600"/>
            <a:ext cx="6108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Hợp đồng dữ liệu FE — BE — AI Service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57800" y="1874520"/>
            <a:ext cx="6108192" cy="2423160"/>
          </a:xfrm>
          <a:prstGeom prst="roundRect">
            <a:avLst>
              <a:gd name="adj" fmla="val 2264"/>
            </a:avLst>
          </a:prstGeom>
          <a:solidFill>
            <a:srgbClr val="0E1D38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975104"/>
            <a:ext cx="57424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/api/predict  (Request)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"features": {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"gender": "Male", "age": 67.0,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"hypertension": 0, "heart_disease": 1,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"ever_married": "Yes", "work_type": "Private",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"Residence_type": "Urban",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"avg_glucose_level": 228.69, "bmi": 36.6,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"smoking_status": "formerly smoked"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257800" y="4434840"/>
            <a:ext cx="6108192" cy="1600200"/>
          </a:xfrm>
          <a:prstGeom prst="roundRect">
            <a:avLst>
              <a:gd name="adj" fmla="val 3429"/>
            </a:avLst>
          </a:prstGeom>
          <a:solidFill>
            <a:srgbClr val="0E1D38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4544568"/>
            <a:ext cx="5742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 (200 OK)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"prediction": 1,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"probability": 0.78,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"High Risk",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"model_version": "1.0.0",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"request_id": "req-7f3a9b12"</a:t>
            </a:r>
            <a:endParaRPr lang="en-US" sz="10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5257800" y="6144768"/>
            <a:ext cx="610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i="1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cũng cung cấp GET /api/predictions làm alias tương thích cho /api/history.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 DOCKER (3-TIER CONTAINER)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— 3 container nối chung mạng stroke-net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92424" cy="2103120"/>
          </a:xfrm>
          <a:prstGeom prst="roundRect">
            <a:avLst>
              <a:gd name="adj" fmla="val 3478"/>
            </a:avLst>
          </a:prstGeom>
          <a:solidFill>
            <a:srgbClr val="EEF2F8"/>
          </a:solidFill>
          <a:ln w="19050">
            <a:solidFill>
              <a:srgbClr val="1B3B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3026664" cy="384048"/>
          </a:xfrm>
          <a:prstGeom prst="roundRect">
            <a:avLst>
              <a:gd name="adj" fmla="val 19048"/>
            </a:avLst>
          </a:prstGeom>
          <a:solidFill>
            <a:srgbClr val="1B3B6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3000 : 80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935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/ Nginx — form nhập liệu tự động từ schema.json qua Backend GET /api/schema.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95928" y="2468880"/>
            <a:ext cx="347472" cy="274320"/>
          </a:xfrm>
          <a:prstGeom prst="rightArrow">
            <a:avLst/>
          </a:prstGeom>
          <a:solidFill>
            <a:srgbClr val="D6DDE8"/>
          </a:solidFill>
          <a:ln/>
        </p:spPr>
      </p:sp>
      <p:sp>
        <p:nvSpPr>
          <p:cNvPr id="10" name="Shape 8"/>
          <p:cNvSpPr/>
          <p:nvPr/>
        </p:nvSpPr>
        <p:spPr>
          <a:xfrm>
            <a:off x="4398264" y="1554480"/>
            <a:ext cx="3392424" cy="2103120"/>
          </a:xfrm>
          <a:prstGeom prst="roundRect">
            <a:avLst>
              <a:gd name="adj" fmla="val 3478"/>
            </a:avLst>
          </a:prstGeom>
          <a:solidFill>
            <a:srgbClr val="EEF2F8"/>
          </a:solidFill>
          <a:ln w="19050">
            <a:solidFill>
              <a:srgbClr val="C832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1737360"/>
            <a:ext cx="3026664" cy="384048"/>
          </a:xfrm>
          <a:prstGeom prst="roundRect">
            <a:avLst>
              <a:gd name="adj" fmla="val 19048"/>
            </a:avLst>
          </a:prstGeom>
          <a:solidFill>
            <a:srgbClr val="C8323F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1737360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1144" y="22128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8000 : 8000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26864" y="2560320"/>
            <a:ext cx="2935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— validate input, lưu lịch sử vào MongoDB Atlas, gọi AI Service.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45552" y="2468880"/>
            <a:ext cx="347472" cy="274320"/>
          </a:xfrm>
          <a:prstGeom prst="rightArrow">
            <a:avLst/>
          </a:prstGeom>
          <a:solidFill>
            <a:srgbClr val="D6DDE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47888" y="1554480"/>
            <a:ext cx="3392424" cy="2103120"/>
          </a:xfrm>
          <a:prstGeom prst="roundRect">
            <a:avLst>
              <a:gd name="adj" fmla="val 3478"/>
            </a:avLst>
          </a:prstGeom>
          <a:solidFill>
            <a:srgbClr val="EEF2F8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0768" y="1737360"/>
            <a:ext cx="3026664" cy="384048"/>
          </a:xfrm>
          <a:prstGeom prst="roundRect">
            <a:avLst>
              <a:gd name="adj" fmla="val 19048"/>
            </a:avLst>
          </a:prstGeom>
          <a:solidFill>
            <a:srgbClr val="2E7D5B"/>
          </a:solidFill>
          <a:ln/>
        </p:spPr>
      </p:sp>
      <p:sp>
        <p:nvSpPr>
          <p:cNvPr id="18" name="Text 16"/>
          <p:cNvSpPr/>
          <p:nvPr/>
        </p:nvSpPr>
        <p:spPr>
          <a:xfrm>
            <a:off x="8430768" y="1737360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ai-service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0768" y="22128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8001 : 8001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76488" y="2560320"/>
            <a:ext cx="2935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nạp model.joblib ngay khi container khởi động.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nằm trong docker-compose — cần MongoDB Atlas hoặc DB truy cập được từ container backend qua biến MONGODB_URI trong .env. Nếu chưa cấu hình, API dự đoán vẫn chạy nhưng lịch sử không được lưu.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Đảm bảo vận hành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5385816" cy="1234440"/>
          </a:xfrm>
          <a:prstGeom prst="roundRect">
            <a:avLst>
              <a:gd name="adj" fmla="val 5185"/>
            </a:avLst>
          </a:prstGeom>
          <a:solidFill>
            <a:srgbClr val="E1EFE8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983480"/>
            <a:ext cx="4873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Healthcheck: 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healthcheck trên cả 3 container (GET /health).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54496" y="4983480"/>
            <a:ext cx="5385816" cy="1234440"/>
          </a:xfrm>
          <a:prstGeom prst="roundRect">
            <a:avLst>
              <a:gd name="adj" fmla="val 5185"/>
            </a:avLst>
          </a:prstGeom>
          <a:solidFill>
            <a:srgbClr val="E1EFE8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4983480"/>
            <a:ext cx="4873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nội bộ: 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giao tiếp qua tên service nội bộ (http://ai-service:8001), không gán cứng localhost.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E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 PUBLIC &amp; QUẢN LÝ LOG TẬP TRUNG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937760" cy="530352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D6D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án triển khai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Frontend: 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tạm qua ngrok tunnel; có thể deploy Vercel (cần cấu hình proxy /api tới Backend).
</a:t>
            </a:r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&amp; AI Service: 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Docker Compose local; có thể deploy dạng Docker Web Service trên Render.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online hiện tại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566160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EEF2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6393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B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revolving-unthawed-arguable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B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.ngrok-free.dev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4526280"/>
            <a:ext cx="4480560" cy="1783080"/>
          </a:xfrm>
          <a:prstGeom prst="roundRect">
            <a:avLst>
              <a:gd name="adj" fmla="val 3590"/>
            </a:avLst>
          </a:prstGeom>
          <a:solidFill>
            <a:srgbClr val="F6E2E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52628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quan sát:  </a:t>
            </a:r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request sinh một </a:t>
            </a:r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duy nhất, truyền xuyên suốt qua cả 3 service để tra vết end-to-end.
</a:t>
            </a:r>
            <a:pPr algn="l"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gần nhất: </a:t>
            </a:r>
            <a:pPr algn="l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27/09/2026 — cập nhật link ngrok Frontend, Backend/AI Service chưa public trực tiếp trong tunnel này.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06440" y="1188720"/>
            <a:ext cx="5833872" cy="5303520"/>
          </a:xfrm>
          <a:prstGeom prst="roundRect">
            <a:avLst>
              <a:gd name="adj" fmla="val 1207"/>
            </a:avLst>
          </a:prstGeom>
          <a:solidFill>
            <a:srgbClr val="0E1D38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1389888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Tracing với request_id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0760" y="1965960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6B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[10:15:02] INFO  </a:t>
            </a:r>
            <a:pPr algn="l" indent="0" marL="0">
              <a:lnSpc>
                <a:spcPct val="130000"/>
              </a:lnSpc>
              <a:buNone/>
            </a:pPr>
            <a:r>
              <a:rPr lang="en-US" sz="96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   </a:t>
            </a:r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req=7f3a  User submitted form -&gt; POST /api/predict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080760" y="2788920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6B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[10:15:02] INFO  </a:t>
            </a:r>
            <a:pPr algn="l" indent="0" marL="0">
              <a:lnSpc>
                <a:spcPct val="130000"/>
              </a:lnSpc>
              <a:buNone/>
            </a:pPr>
            <a:r>
              <a:rPr lang="en-US" sz="96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   </a:t>
            </a:r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req=7f3a  Validate Schema OK -&gt; Calling ai-service:8001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080760" y="3611880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6B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[10:15:02] INFO  </a:t>
            </a:r>
            <a:pPr algn="l" indent="0" marL="0">
              <a:lnSpc>
                <a:spcPct val="130000"/>
              </a:lnSpc>
              <a:buNone/>
            </a:pPr>
            <a:r>
              <a:rPr lang="en-US" sz="96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ai-service  </a:t>
            </a:r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req=7f3a  Model Predict: Class 1 (p=0.78) in 1ms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080760" y="4434840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6B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[10:15:02] INFO  </a:t>
            </a:r>
            <a:pPr algn="l" indent="0" marL="0">
              <a:lnSpc>
                <a:spcPct val="130000"/>
              </a:lnSpc>
              <a:buNone/>
            </a:pPr>
            <a:r>
              <a:rPr lang="en-US" sz="96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   </a:t>
            </a:r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9B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req=7f3a  Saved history to MongoDB Atlas -&gt; 200 OK (Total: 45ms)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080760" y="6035040"/>
            <a:ext cx="5285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thay đổi cổng/tunnel đầy đủ: mục 12, README.md.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 HIỆU NĂNG &amp; TẢI TRỌNG (LOAD TESTING)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(k6 2.3.0, predict.js): 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virtual users gửi request liên tục trong 1 phút, qua Frontend/Nginx tới endpoint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8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/api/predict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chạy cục bộ ngày 27/09/2026.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EEF2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998878" cy="73152"/>
          </a:xfrm>
          <a:prstGeom prst="rect">
            <a:avLst/>
          </a:prstGeom>
          <a:solidFill>
            <a:srgbClr val="1B3B6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4,870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số request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1724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VU / 1 phút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21838" y="201168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EEF2F8"/>
          </a:solidFill>
          <a:ln/>
        </p:spPr>
      </p:sp>
      <p:sp>
        <p:nvSpPr>
          <p:cNvPr id="10" name="Shape 8"/>
          <p:cNvSpPr/>
          <p:nvPr/>
        </p:nvSpPr>
        <p:spPr>
          <a:xfrm>
            <a:off x="2821838" y="2011680"/>
            <a:ext cx="1998878" cy="7315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2913278" y="2468880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58998" y="32918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lỗi (Error Rate)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58998" y="4069080"/>
            <a:ext cx="1724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&lt; 1% — đạt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95037" y="201168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EEF2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095037" y="2011680"/>
            <a:ext cx="1998878" cy="73152"/>
          </a:xfrm>
          <a:prstGeom prst="rect">
            <a:avLst/>
          </a:prstGeom>
          <a:solidFill>
            <a:srgbClr val="1B3B6F"/>
          </a:solidFill>
          <a:ln/>
        </p:spPr>
      </p:sp>
      <p:sp>
        <p:nvSpPr>
          <p:cNvPr id="16" name="Text 14"/>
          <p:cNvSpPr/>
          <p:nvPr/>
        </p:nvSpPr>
        <p:spPr>
          <a:xfrm>
            <a:off x="5186477" y="2468880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184.7 ms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32197" y="32918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trung bình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32197" y="4069080"/>
            <a:ext cx="1724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nối MongoDB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68235" y="201168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EE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368235" y="2011680"/>
            <a:ext cx="1998878" cy="73152"/>
          </a:xfrm>
          <a:prstGeom prst="rect">
            <a:avLst/>
          </a:prstGeom>
          <a:solidFill>
            <a:srgbClr val="C8323F"/>
          </a:solidFill>
          <a:ln/>
        </p:spPr>
      </p:sp>
      <p:sp>
        <p:nvSpPr>
          <p:cNvPr id="21" name="Text 19"/>
          <p:cNvSpPr/>
          <p:nvPr/>
        </p:nvSpPr>
        <p:spPr>
          <a:xfrm>
            <a:off x="7459675" y="2468880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281.3 ms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05395" y="32918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p95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05395" y="4069080"/>
            <a:ext cx="1724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&lt; 2.0s — đạt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641434" y="201168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EEF2F8"/>
          </a:solidFill>
          <a:ln/>
        </p:spPr>
      </p:sp>
      <p:sp>
        <p:nvSpPr>
          <p:cNvPr id="25" name="Shape 23"/>
          <p:cNvSpPr/>
          <p:nvPr/>
        </p:nvSpPr>
        <p:spPr>
          <a:xfrm>
            <a:off x="9641434" y="2011680"/>
            <a:ext cx="1998878" cy="73152"/>
          </a:xfrm>
          <a:prstGeom prst="rect">
            <a:avLst/>
          </a:prstGeom>
          <a:solidFill>
            <a:srgbClr val="1B3B6F"/>
          </a:solidFill>
          <a:ln/>
        </p:spPr>
      </p:sp>
      <p:sp>
        <p:nvSpPr>
          <p:cNvPr id="26" name="Text 24"/>
          <p:cNvSpPr/>
          <p:nvPr/>
        </p:nvSpPr>
        <p:spPr>
          <a:xfrm>
            <a:off x="9732874" y="2468880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778594" y="32918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2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(RPS)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78594" y="4069080"/>
            <a:ext cx="1724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giây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892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tối đa ghi nhận: 562.94 ms.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E1EFE8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25780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43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cả 2 ngưỡng phi chức năng (p95 &lt; 2s, lỗi &lt; 1%). Đây là kết quả trên máy local, chưa kết nối MongoDB Atlas nên chưa bao gồm độ trễ lưu lịch sử — không đại diện cho hiệu năng khi deploy public.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dự đoán nguy cơ đột quỵ · README v2.0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2026-09-27T16:19:54Z</dcterms:created>
  <dcterms:modified xsi:type="dcterms:W3CDTF">2026-09-27T16:19:54Z</dcterms:modified>
</cp:coreProperties>
</file>