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65" r:id="rId12"/>
    <p:sldId id="266" r:id="rId13"/>
    <p:sldId id="267" r:id="rId14"/>
    <p:sldId id="268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1487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7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572000"/>
            <a:ext cx="2926080" cy="2926080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051560"/>
            <a:ext cx="3108960" cy="292608"/>
          </a:xfrm>
          <a:prstGeom prst="roundRect">
            <a:avLst>
              <a:gd name="adj" fmla="val 18750"/>
            </a:avLst>
          </a:prstGeom>
          <a:solidFill>
            <a:srgbClr val="2A4A8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0515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MÁY CƠ BẢN · 221180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200" dirty="0">
                <a:solidFill>
                  <a:srgbClr val="9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 BÀI TẬP LỚN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9875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HỆ THỐNG DỰ ĐOÁN</a:t>
            </a:r>
            <a:endParaRPr lang="en-US" sz="46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 CƠ ĐỘT QUỴ</a:t>
            </a:r>
            <a:endParaRPr lang="en-US" sz="4600" dirty="0"/>
          </a:p>
        </p:txBody>
      </p:sp>
      <p:sp>
        <p:nvSpPr>
          <p:cNvPr id="8" name="Shape 6"/>
          <p:cNvSpPr/>
          <p:nvPr/>
        </p:nvSpPr>
        <p:spPr>
          <a:xfrm>
            <a:off x="822960" y="4343400"/>
            <a:ext cx="2926080" cy="0"/>
          </a:xfrm>
          <a:prstGeom prst="line">
            <a:avLst/>
          </a:prstGeom>
          <a:noFill/>
          <a:ln w="38100">
            <a:solidFill>
              <a:srgbClr val="C832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61772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9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Lớp: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12523W.2
</a:t>
            </a:r>
            <a:r>
              <a:rPr lang="en-US" sz="1400" b="1" dirty="0">
                <a:solidFill>
                  <a:srgbClr val="9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hướng dẫn: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ThS. Nguyễn Đức Tuấn Anh
</a:t>
            </a:r>
            <a:r>
              <a:rPr lang="en-US" sz="1400" b="1" dirty="0">
                <a:solidFill>
                  <a:srgbClr val="9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17_12523101_10123337_DuDoanDotQuy  ·  Tài liệu v2.0 (23/09/2026)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TÓM TẮT TỔNG QUAN HỆ THỐNG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toán: </a:t>
            </a:r>
            <a:r>
              <a:rPr lang="en-US" sz="13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loại nhị phân — dự đoán nguy cơ đột quỵ (stroke = 1) hay không (stroke = 0). Do đặc thù y tế, hệ thống ưu tiên giảm thiểu tối đa Âm tính giả (False Negative).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2F8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020824"/>
            <a:ext cx="530352" cy="530352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2082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8" dirty="0"/>
          </a:p>
        </p:txBody>
      </p:sp>
      <p:sp>
        <p:nvSpPr>
          <p:cNvPr id="7" name="Text 5"/>
          <p:cNvSpPr/>
          <p:nvPr/>
        </p:nvSpPr>
        <p:spPr>
          <a:xfrm>
            <a:off x="1481328" y="200253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587752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Prediction Dataset (Kaggle, ODbL) — 5,110 bản ghi, 11 đặc trưng. Đây là dữ liệu thật tải trực tiếp từ Kaggle, mất cân bằng nặng (~5% ca stroke).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6309360" y="178308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2F8"/>
          </a:solidFill>
          <a:ln/>
        </p:spPr>
      </p:sp>
      <p:sp>
        <p:nvSpPr>
          <p:cNvPr id="10" name="Shape 8"/>
          <p:cNvSpPr/>
          <p:nvPr/>
        </p:nvSpPr>
        <p:spPr>
          <a:xfrm>
            <a:off x="6565392" y="2020824"/>
            <a:ext cx="530352" cy="530352"/>
          </a:xfrm>
          <a:prstGeom prst="ellipse">
            <a:avLst/>
          </a:prstGeom>
          <a:solidFill>
            <a:srgbClr val="C8323F"/>
          </a:solidFill>
          <a:ln/>
        </p:spPr>
      </p:sp>
      <p:sp>
        <p:nvSpPr>
          <p:cNvPr id="11" name="Text 9"/>
          <p:cNvSpPr/>
          <p:nvPr/>
        </p:nvSpPr>
        <p:spPr>
          <a:xfrm>
            <a:off x="6565392" y="202082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8" dirty="0"/>
          </a:p>
        </p:txBody>
      </p:sp>
      <p:sp>
        <p:nvSpPr>
          <p:cNvPr id="12" name="Text 10"/>
          <p:cNvSpPr/>
          <p:nvPr/>
        </p:nvSpPr>
        <p:spPr>
          <a:xfrm>
            <a:off x="7242048" y="200253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AI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65392" y="2587752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thuật toán: Logistic Regression, Naive Bayes, SVM (RBF) và Random Forest (chọn). GridSearchCV tối ưu theo Recall.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2F8"/>
          </a:solidFill>
          <a:ln/>
        </p:spPr>
      </p:sp>
      <p:sp>
        <p:nvSpPr>
          <p:cNvPr id="15" name="Shape 13"/>
          <p:cNvSpPr/>
          <p:nvPr/>
        </p:nvSpPr>
        <p:spPr>
          <a:xfrm>
            <a:off x="804672" y="4169664"/>
            <a:ext cx="530352" cy="53035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416966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8" dirty="0"/>
          </a:p>
        </p:txBody>
      </p:sp>
      <p:sp>
        <p:nvSpPr>
          <p:cNvPr id="17" name="Text 15"/>
          <p:cNvSpPr/>
          <p:nvPr/>
        </p:nvSpPr>
        <p:spPr>
          <a:xfrm>
            <a:off x="1481328" y="415137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ĐÓNG GÓI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4672" y="4736592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sklearn.pipeline vào model.joblib + candidates/*.joblib, kèm schema.json, metadata.json, training_metadata.json.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6309360" y="393192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65392" y="4169664"/>
            <a:ext cx="530352" cy="530352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21" name="Text 19"/>
          <p:cNvSpPr/>
          <p:nvPr/>
        </p:nvSpPr>
        <p:spPr>
          <a:xfrm>
            <a:off x="6565392" y="416966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8" dirty="0"/>
          </a:p>
        </p:txBody>
      </p:sp>
      <p:sp>
        <p:nvSpPr>
          <p:cNvPr id="22" name="Text 20"/>
          <p:cNvSpPr/>
          <p:nvPr/>
        </p:nvSpPr>
        <p:spPr>
          <a:xfrm>
            <a:off x="7242048" y="415137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TRIỂN KHAI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65392" y="4736592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3-tier container hóa bằng Docker Compose (FE/BE/AI Service), public qua ngrok Tunnel; BE &amp; AI Service có thể deploy Render, FE deploy Vercel.</a:t>
            </a:r>
            <a:endParaRPr lang="en-US" sz="1120" dirty="0"/>
          </a:p>
        </p:txBody>
      </p:sp>
      <p:sp>
        <p:nvSpPr>
          <p:cNvPr id="24" name="Shape 22"/>
          <p:cNvSpPr/>
          <p:nvPr/>
        </p:nvSpPr>
        <p:spPr>
          <a:xfrm>
            <a:off x="548640" y="5989320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FBF2DD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9893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Lưu ý:  </a:t>
            </a:r>
            <a:r>
              <a:rPr lang="en-US" sz="108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trong báo cáo được chạy trên dữ liệu thật từ Kaggle (Stroke Prediction Dataset); các chỉ số đánh giá lấy trên tập Test (20%, 1,022 mẫu).</a:t>
            </a:r>
            <a:endParaRPr lang="en-US" sz="1080" dirty="0"/>
          </a:p>
        </p:txBody>
      </p:sp>
      <p:sp>
        <p:nvSpPr>
          <p:cNvPr id="26" name="Text 24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E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NHÓM THỰC HIỆN &amp; QUY ƯỚC REPOSITORY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6949440" cy="5212080"/>
          </a:xfrm>
          <a:prstGeom prst="roundRect">
            <a:avLst>
              <a:gd name="adj" fmla="val 1228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898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Thành viên nhóm 17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6400800" cy="2057400"/>
          </a:xfrm>
          <a:prstGeom prst="roundRect">
            <a:avLst>
              <a:gd name="adj" fmla="val 2667"/>
            </a:avLst>
          </a:prstGeom>
          <a:solidFill>
            <a:srgbClr val="EEF2F8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2130552"/>
            <a:ext cx="502920" cy="502920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130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37360" y="20756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Nguyễn Thế Phong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737360" y="23865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MSSV 12523101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46520" y="2093976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209397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51560" y="2743200"/>
            <a:ext cx="5943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Trưởng nhóm — EDA dữ liệu, huấn luyện Logistic Regression &amp; Random Forest, xây dựng AI Service (FastAPI) + Dockerize, xây dựng Frontend (React).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4160520"/>
            <a:ext cx="6400800" cy="2057400"/>
          </a:xfrm>
          <a:prstGeom prst="roundRect">
            <a:avLst>
              <a:gd name="adj" fmla="val 2667"/>
            </a:avLst>
          </a:prstGeom>
          <a:solidFill>
            <a:srgbClr val="EEF2F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51560" y="4416552"/>
            <a:ext cx="502920" cy="502920"/>
          </a:xfrm>
          <a:prstGeom prst="ellipse">
            <a:avLst/>
          </a:prstGeom>
          <a:solidFill>
            <a:srgbClr val="C8323F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4416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737360" y="43616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Quang Trường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737360" y="46725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MSSV 10123337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46520" y="4379976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</p:sp>
      <p:sp>
        <p:nvSpPr>
          <p:cNvPr id="19" name="Text 17"/>
          <p:cNvSpPr/>
          <p:nvPr/>
        </p:nvSpPr>
        <p:spPr>
          <a:xfrm>
            <a:off x="6446520" y="437997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51560" y="5029200"/>
            <a:ext cx="5943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 viên — huấn luyện SVM &amp; Naive Bayes, xây dựng Backend (Node.js/Express), kết nối MongoDB, deploy Tunnel/Ngrok &amp; Load Test.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0" y="1188720"/>
            <a:ext cx="3867912" cy="5212080"/>
          </a:xfrm>
          <a:prstGeom prst="roundRect">
            <a:avLst>
              <a:gd name="adj" fmla="val 1655"/>
            </a:avLst>
          </a:prstGeom>
          <a:solidFill>
            <a:srgbClr val="0E1D38"/>
          </a:solidFill>
          <a:ln/>
        </p:spPr>
      </p:sp>
      <p:sp>
        <p:nvSpPr>
          <p:cNvPr id="22" name="Text 20"/>
          <p:cNvSpPr/>
          <p:nvPr/>
        </p:nvSpPr>
        <p:spPr>
          <a:xfrm>
            <a:off x="8001000" y="1389888"/>
            <a:ext cx="3410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Quy ước tên repo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001000" y="1783080"/>
            <a:ext cx="3410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17_12523101_10123337</a:t>
            </a:r>
            <a:endParaRPr lang="en-US" sz="11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_DuDoanDotQuy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001000" y="260604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Cấu trúc chính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01000" y="2926080"/>
            <a:ext cx="341071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app/frontend</a:t>
            </a:r>
            <a:endParaRPr lang="en-US" sz="10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app/backend</a:t>
            </a:r>
            <a:endParaRPr lang="en-US" sz="10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ai-models/colab</a:t>
            </a:r>
            <a:endParaRPr lang="en-US" sz="10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ai-models/src</a:t>
            </a:r>
            <a:endParaRPr lang="en-US" sz="10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ai-models/data</a:t>
            </a:r>
            <a:endParaRPr lang="en-US" sz="10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ai-models/models</a:t>
            </a:r>
            <a:endParaRPr lang="en-US" sz="10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ai-models/service</a:t>
            </a:r>
            <a:endParaRPr lang="en-US" sz="10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docs/figures</a:t>
            </a:r>
            <a:endParaRPr lang="en-US" sz="10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docker-compose.yml</a:t>
            </a:r>
            <a:endParaRPr lang="en-US" sz="10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.env.example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E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TÍCH KHÁM PHÁ DỮ LIỆU — EDA (1/3)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5440680" cy="5166360"/>
          </a:xfrm>
          <a:prstGeom prst="roundRect">
            <a:avLst>
              <a:gd name="adj" fmla="val 123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25880"/>
            <a:ext cx="5074920" cy="21716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13172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Hình 1 — Countplot phân bố nhãn stroke</a:t>
            </a:r>
            <a:endParaRPr lang="en-US" sz="920" dirty="0"/>
          </a:p>
        </p:txBody>
      </p:sp>
      <p:sp>
        <p:nvSpPr>
          <p:cNvPr id="9" name="Text 7"/>
          <p:cNvSpPr/>
          <p:nvPr/>
        </p:nvSpPr>
        <p:spPr>
          <a:xfrm>
            <a:off x="731520" y="36072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Phân bố biến mục tiêu stroke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3936392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1B3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sát: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= 0: 4,861 ca (95.13%); stroke = 1: 249 ca (4.87%) — cột stroke=1 gần như không thấy được so với stroke=0 (tỷ lệ ~20:1).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731520" y="4466744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C8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Ý nghĩa: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 mất cân bằng nghiêm trọng (class imbalance). Dùng Accuracy dễ che giấu việc bỏ sót ca dương tính.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731520" y="5161688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 dữ liệu bằng stratify, dùng class_weight='balanced', ưu tiên Recall/Precision/F1/ROC-AUC thay vì Accuracy.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6309360" y="1143000"/>
            <a:ext cx="5440680" cy="5166360"/>
          </a:xfrm>
          <a:prstGeom prst="roundRect">
            <a:avLst>
              <a:gd name="adj" fmla="val 123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92240" y="1325880"/>
            <a:ext cx="5074920" cy="21716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313172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Hình 2 — Giá trị thiếu theo cột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6492240" y="36072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Ma trận dữ liệu thiếu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92240" y="3936392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1B3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sát: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Cột bmi thiếu 201/5,110 giá trị (~3.93%); biểu đồ chỉ có một cột vì các cột khác không thiếu.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6492240" y="4631336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C8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Ý nghĩa: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Xóa các dòng thiếu sẽ làm mất dữ liệu, trong đó có thể có ca stroke hiếm.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6492240" y="5326280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Điền bmi bằng median học trên tập Train trong Pipeline (SimpleImputer), tránh rò rỉ dữ liệu.</a:t>
            </a:r>
            <a:endParaRPr lang="en-US" sz="1020" dirty="0"/>
          </a:p>
        </p:txBody>
      </p:sp>
      <p:sp>
        <p:nvSpPr>
          <p:cNvPr id="23" name="Text 21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pic>
        <p:nvPicPr>
          <p:cNvPr id="27" name="Picture 26" descr="01_target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8980" y="1410000"/>
            <a:ext cx="2100000" cy="1680000"/>
          </a:xfrm>
          <a:prstGeom prst="rect">
            <a:avLst/>
          </a:prstGeom>
        </p:spPr>
      </p:pic>
      <p:pic>
        <p:nvPicPr>
          <p:cNvPr id="28" name="Picture 27" descr="02_missing_valu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9700" y="1410000"/>
            <a:ext cx="252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E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TÍCH KHÁM PHÁ DỮ LIỆU — EDA (2/3)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5440680" cy="5166360"/>
          </a:xfrm>
          <a:prstGeom prst="roundRect">
            <a:avLst>
              <a:gd name="adj" fmla="val 123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25880"/>
            <a:ext cx="5074920" cy="21716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13172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Hình 3 — Phân phối age / avg_glucose_level / bmi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731520" y="36072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Phân phối các biến số theo stroke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31520" y="3936392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1B3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sát: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age: ca stroke=1 hầu như chỉ xuất hiện từ ~40 tuổi, tăng dần và nhiều nhất ở ~75–80 tuổi. glucose: lệch phải, có cụm thứ hai quanh ~200. bmi: lệch phải (tối đa ~98), hai lớp có hình dạng gần giống nhau.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731520" y="4631336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C8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Ý nghĩa: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Tuổi là tín hiệu rõ nhất; glucose có tín hiệu một phần; bmi gần như không tách được 2 lớp. Các biến khác thang đo, bmi còn missing.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731520" y="5326280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Điền median cho bmi, dùng StandardScaler để model tuyến tính/SVM không bị chi phối bởi thang đo; giữ nguyên các giá trị lệch/ngoại lai.</a:t>
            </a:r>
            <a:endParaRPr lang="en-US" sz="1020" dirty="0"/>
          </a:p>
        </p:txBody>
      </p:sp>
      <p:sp>
        <p:nvSpPr>
          <p:cNvPr id="16" name="Shape 14"/>
          <p:cNvSpPr/>
          <p:nvPr/>
        </p:nvSpPr>
        <p:spPr>
          <a:xfrm>
            <a:off x="6309360" y="1143000"/>
            <a:ext cx="5440680" cy="5166360"/>
          </a:xfrm>
          <a:prstGeom prst="roundRect">
            <a:avLst>
              <a:gd name="adj" fmla="val 123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92240" y="1325880"/>
            <a:ext cx="5074920" cy="21716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313172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Hình 4 — Boxplot glucose theo nhãn stroke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6492240" y="36072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Glucose trung bình theo nhãn stroke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92240" y="3936392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1B3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sát: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 vị glucose của stroke=1 (~105) cao hơn stroke=0 (~91). Stroke=1 có hộp rất rộng (~80–197) còn stroke=0 tập trung ~77–113 nhưng có rất nhiều ngoại lai trên ~165.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6492240" y="4631336"/>
            <a:ext cx="5074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C8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Ý nghĩa: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cao giúp phân biệt một phần nguy cơ; các ngoại lai nhiều khả năng là chỉ số sức khỏe thật (ví dụ tiểu đường), không phải lỗi dữ liệu.</a:t>
            </a:r>
            <a:endParaRPr lang="en-US" sz="1020" dirty="0"/>
          </a:p>
        </p:txBody>
      </p:sp>
      <p:sp>
        <p:nvSpPr>
          <p:cNvPr id="25" name="Text 23"/>
          <p:cNvSpPr/>
          <p:nvPr/>
        </p:nvSpPr>
        <p:spPr>
          <a:xfrm>
            <a:off x="6492240" y="5490872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 nguyên ngoại lai, không cắt ngưỡng cơ học; để Pipeline chuẩn hóa và model tự học ảnh hưởng.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pic>
        <p:nvPicPr>
          <p:cNvPr id="30" name="Picture 29" descr="03_numeric_distribu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80" y="1623334"/>
            <a:ext cx="4700000" cy="1253333"/>
          </a:xfrm>
          <a:prstGeom prst="rect">
            <a:avLst/>
          </a:prstGeom>
        </p:spPr>
      </p:pic>
      <p:pic>
        <p:nvPicPr>
          <p:cNvPr id="31" name="Picture 30" descr="04_glucose_boxp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9700" y="1410000"/>
            <a:ext cx="210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E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TÍCH KHÁM PHÁ DỮ LIỆU — EDA (3/3)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5440680" cy="5166360"/>
          </a:xfrm>
          <a:prstGeom prst="roundRect">
            <a:avLst>
              <a:gd name="adj" fmla="val 123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25880"/>
            <a:ext cx="5074920" cy="21716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13172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Hình 5 — smoking_status theo nhãn stroke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731520" y="36072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Tình trạng hút thuốc theo nhãn stroke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31520" y="3936392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1B3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sát: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"never smoked" đông nhất (~1,900), "Unknown" ~1,500. Tỷ lệ stroke cao nhất ở "formerly smoked" (~8%), "never smoked" và "smokes" khoảng 5%, "Unknown" thấp nhất (~3%).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731520" y="4631336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C8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Ý nghĩa: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Chênh lệch tỷ lệ giữa các nhóm không lớn; "Unknown" chiếm gần 30% dữ liệu nên không nên bỏ. Đây là biến phân loại không có thứ tự, ép thành 0,1,2 sẽ tạo quan hệ giả.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731520" y="5326280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Điền mode nếu thiếu, mã hóa One-Hot Encoding với handle_unknown='ignore'.</a:t>
            </a:r>
            <a:endParaRPr lang="en-US" sz="1020" dirty="0"/>
          </a:p>
        </p:txBody>
      </p:sp>
      <p:sp>
        <p:nvSpPr>
          <p:cNvPr id="16" name="Shape 14"/>
          <p:cNvSpPr/>
          <p:nvPr/>
        </p:nvSpPr>
        <p:spPr>
          <a:xfrm>
            <a:off x="6309360" y="1143000"/>
            <a:ext cx="5440680" cy="5166360"/>
          </a:xfrm>
          <a:prstGeom prst="roundRect">
            <a:avLst>
              <a:gd name="adj" fmla="val 123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92240" y="1325880"/>
            <a:ext cx="5074920" cy="21716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29400" y="313172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Hình 6 — Ma trận tương quan</a:t>
            </a:r>
            <a:endParaRPr lang="en-US" sz="920" dirty="0"/>
          </a:p>
        </p:txBody>
      </p:sp>
      <p:sp>
        <p:nvSpPr>
          <p:cNvPr id="44" name="Text 42"/>
          <p:cNvSpPr/>
          <p:nvPr/>
        </p:nvSpPr>
        <p:spPr>
          <a:xfrm>
            <a:off x="6492240" y="36072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Tương quan giữa các đặc trưng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492240" y="3936392"/>
            <a:ext cx="5074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1B3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sát: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tương quan yếu với mọi biến: age cao nhất (0.25); avg_glucose_level, hypertension, heart_disease cùng 0.13; bmi chỉ 0.04. Giữa các đặc trưng, cao nhất là age–bmi (0.33).</a:t>
            </a:r>
            <a:endParaRPr lang="en-US" sz="1020" dirty="0"/>
          </a:p>
        </p:txBody>
      </p:sp>
      <p:sp>
        <p:nvSpPr>
          <p:cNvPr id="46" name="Text 44"/>
          <p:cNvSpPr/>
          <p:nvPr/>
        </p:nvSpPr>
        <p:spPr>
          <a:xfrm>
            <a:off x="6492240" y="4795928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C8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Ý nghĩa: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là biến có tín hiệu mạnh nhất; không có cặp đặc trưng nào tương quan quá cao nên ít lo trùng thông tin. Tương quan thấp ≠ vô ích, và không chứng minh quan hệ nhân quả.</a:t>
            </a:r>
            <a:endParaRPr lang="en-US" sz="1020" dirty="0"/>
          </a:p>
        </p:txBody>
      </p:sp>
      <p:sp>
        <p:nvSpPr>
          <p:cNvPr id="47" name="Text 45"/>
          <p:cNvSpPr/>
          <p:nvPr/>
        </p:nvSpPr>
        <p:spPr>
          <a:xfrm>
            <a:off x="6492240" y="5490872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Loại cột id vì chỉ là mã định danh; giữ các đặc trưng còn lại, dùng cross-validation để kiểm tra khả năng tổng quát.</a:t>
            </a:r>
            <a:endParaRPr lang="en-US" sz="1020" dirty="0"/>
          </a:p>
        </p:txBody>
      </p:sp>
      <p:sp>
        <p:nvSpPr>
          <p:cNvPr id="48" name="Text 46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52" name="Picture 51" descr="05_smoking_by_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8980" y="1410000"/>
            <a:ext cx="3360000" cy="1680000"/>
          </a:xfrm>
          <a:prstGeom prst="rect">
            <a:avLst/>
          </a:prstGeom>
        </p:spPr>
      </p:pic>
      <p:pic>
        <p:nvPicPr>
          <p:cNvPr id="53" name="Picture 52" descr="06_correlation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700" y="1410000"/>
            <a:ext cx="224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QUY TRÌNH XỬ LÝ DỮ LIỆU (PREPROCESSING PIPELINE)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preprocess.py — Quy trình chống rò rỉ dữ liệu (Data Leakage Prevention)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328623" y="2103120"/>
            <a:ext cx="658368" cy="658368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5" name="Text 3"/>
          <p:cNvSpPr/>
          <p:nvPr/>
        </p:nvSpPr>
        <p:spPr>
          <a:xfrm>
            <a:off x="1328623" y="2103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72" dirty="0"/>
          </a:p>
        </p:txBody>
      </p:sp>
      <p:sp>
        <p:nvSpPr>
          <p:cNvPr id="6" name="Text 4"/>
          <p:cNvSpPr/>
          <p:nvPr/>
        </p:nvSpPr>
        <p:spPr>
          <a:xfrm>
            <a:off x="621792" y="2971800"/>
            <a:ext cx="2072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Loại bỏ id, chia dữ liệu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203545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 cột id (chỉ là định danh). Train/Test = 80/20, Stratified theo biến stroke.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0942" y="2359152"/>
            <a:ext cx="292608" cy="182880"/>
          </a:xfrm>
          <a:prstGeom prst="rightArrow">
            <a:avLst/>
          </a:prstGeom>
          <a:solidFill>
            <a:srgbClr val="D6DDE8"/>
          </a:solidFill>
          <a:ln/>
        </p:spPr>
      </p:sp>
      <p:sp>
        <p:nvSpPr>
          <p:cNvPr id="9" name="Shape 7"/>
          <p:cNvSpPr/>
          <p:nvPr/>
        </p:nvSpPr>
        <p:spPr>
          <a:xfrm>
            <a:off x="3546958" y="2103120"/>
            <a:ext cx="658368" cy="658368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10" name="Text 8"/>
          <p:cNvSpPr/>
          <p:nvPr/>
        </p:nvSpPr>
        <p:spPr>
          <a:xfrm>
            <a:off x="3546958" y="2103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72" dirty="0"/>
          </a:p>
        </p:txBody>
      </p:sp>
      <p:sp>
        <p:nvSpPr>
          <p:cNvPr id="11" name="Text 9"/>
          <p:cNvSpPr/>
          <p:nvPr/>
        </p:nvSpPr>
        <p:spPr>
          <a:xfrm>
            <a:off x="2840126" y="2971800"/>
            <a:ext cx="2072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Xử lý missing value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58414" y="3474720"/>
            <a:ext cx="203545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SimpleImputer(strategy='median') cho bmi, fit riêng trên tập Train.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29277" y="2359152"/>
            <a:ext cx="292608" cy="182880"/>
          </a:xfrm>
          <a:prstGeom prst="rightArrow">
            <a:avLst/>
          </a:prstGeom>
          <a:solidFill>
            <a:srgbClr val="D6DDE8"/>
          </a:solidFill>
          <a:ln/>
        </p:spPr>
      </p:sp>
      <p:sp>
        <p:nvSpPr>
          <p:cNvPr id="14" name="Shape 12"/>
          <p:cNvSpPr/>
          <p:nvPr/>
        </p:nvSpPr>
        <p:spPr>
          <a:xfrm>
            <a:off x="5765292" y="2103120"/>
            <a:ext cx="658368" cy="658368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15" name="Text 13"/>
          <p:cNvSpPr/>
          <p:nvPr/>
        </p:nvSpPr>
        <p:spPr>
          <a:xfrm>
            <a:off x="5765292" y="2103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72" dirty="0"/>
          </a:p>
        </p:txBody>
      </p:sp>
      <p:sp>
        <p:nvSpPr>
          <p:cNvPr id="16" name="Text 14"/>
          <p:cNvSpPr/>
          <p:nvPr/>
        </p:nvSpPr>
        <p:spPr>
          <a:xfrm>
            <a:off x="5058461" y="2971800"/>
            <a:ext cx="2072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Mã hóa phân loại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6749" y="3474720"/>
            <a:ext cx="203545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OneHotEncoder(handle_unknown='ignore') cho gender, ever_married, work_type, Residence_type, smoking_status.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947611" y="2359152"/>
            <a:ext cx="292608" cy="182880"/>
          </a:xfrm>
          <a:prstGeom prst="rightArrow">
            <a:avLst/>
          </a:prstGeom>
          <a:solidFill>
            <a:srgbClr val="D6DDE8"/>
          </a:solidFill>
          <a:ln/>
        </p:spPr>
      </p:sp>
      <p:sp>
        <p:nvSpPr>
          <p:cNvPr id="19" name="Shape 17"/>
          <p:cNvSpPr/>
          <p:nvPr/>
        </p:nvSpPr>
        <p:spPr>
          <a:xfrm>
            <a:off x="7983626" y="2103120"/>
            <a:ext cx="658368" cy="658368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20" name="Text 18"/>
          <p:cNvSpPr/>
          <p:nvPr/>
        </p:nvSpPr>
        <p:spPr>
          <a:xfrm>
            <a:off x="7983626" y="2103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72" dirty="0"/>
          </a:p>
        </p:txBody>
      </p:sp>
      <p:sp>
        <p:nvSpPr>
          <p:cNvPr id="21" name="Text 19"/>
          <p:cNvSpPr/>
          <p:nvPr/>
        </p:nvSpPr>
        <p:spPr>
          <a:xfrm>
            <a:off x="7276795" y="2971800"/>
            <a:ext cx="2072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Chuẩn hóa biến số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295083" y="3474720"/>
            <a:ext cx="203545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StandardScaler() cho age, avg_glucose_level, bmi — giữ nguyên ngoại lai, không cắt ngưỡng.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165946" y="2359152"/>
            <a:ext cx="292608" cy="182880"/>
          </a:xfrm>
          <a:prstGeom prst="rightArrow">
            <a:avLst/>
          </a:prstGeom>
          <a:solidFill>
            <a:srgbClr val="D6DDE8"/>
          </a:solidFill>
          <a:ln/>
        </p:spPr>
      </p:sp>
      <p:sp>
        <p:nvSpPr>
          <p:cNvPr id="24" name="Shape 22"/>
          <p:cNvSpPr/>
          <p:nvPr/>
        </p:nvSpPr>
        <p:spPr>
          <a:xfrm>
            <a:off x="10201961" y="2103120"/>
            <a:ext cx="658368" cy="65836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10201961" y="2103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72" dirty="0"/>
          </a:p>
        </p:txBody>
      </p:sp>
      <p:sp>
        <p:nvSpPr>
          <p:cNvPr id="26" name="Text 24"/>
          <p:cNvSpPr/>
          <p:nvPr/>
        </p:nvSpPr>
        <p:spPr>
          <a:xfrm>
            <a:off x="9495130" y="2971800"/>
            <a:ext cx="2072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Xuất artifact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513418" y="3474720"/>
            <a:ext cx="203545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schema.json định nghĩa chuẩn tên cột, kiểu dữ liệu, thứ tự và miền giá trị hợp lệ.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7368"/>
            </a:avLst>
          </a:prstGeom>
          <a:solidFill>
            <a:srgbClr val="F6E2E3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5394960"/>
            <a:ext cx="1063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3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Toàn bộ bước tiền xử lý được đóng gói trong </a:t>
            </a:r>
            <a:r>
              <a:rPr lang="en-US" sz="123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sklearn.pipeline.Pipeline</a:t>
            </a:r>
            <a:r>
              <a:rPr lang="en-US" sz="123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(ColumnTransformer) để đảm bảo tính nhất quán giữa huấn luyện và suy luận, ngăn rò rỉ dữ liệu từ tập Test.</a:t>
            </a:r>
            <a:endParaRPr lang="en-US" sz="1230" dirty="0"/>
          </a:p>
        </p:txBody>
      </p:sp>
      <p:sp>
        <p:nvSpPr>
          <p:cNvPr id="30" name="Text 28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E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HUẤN LUYỆN 4 MÔ HÌNH (MODEL TRAINING)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train.py — Cùng pipeline tiền xử lý, cùng Stratified Train/Test = 80/20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32888" cy="3429000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4188" y="1856232"/>
            <a:ext cx="621792" cy="621792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6" name="Text 4"/>
          <p:cNvSpPr/>
          <p:nvPr/>
        </p:nvSpPr>
        <p:spPr>
          <a:xfrm>
            <a:off x="1504188" y="18562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6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68" dirty="0"/>
          </a:p>
        </p:txBody>
      </p:sp>
      <p:sp>
        <p:nvSpPr>
          <p:cNvPr id="7" name="Text 5"/>
          <p:cNvSpPr/>
          <p:nvPr/>
        </p:nvSpPr>
        <p:spPr>
          <a:xfrm>
            <a:off x="685800" y="2651760"/>
            <a:ext cx="2258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 Regression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227832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logistic_regression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3657600"/>
            <a:ext cx="21671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loại tuyến tính với class_weight='balanced'.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01568" y="1600200"/>
            <a:ext cx="2532888" cy="3429000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57116" y="1856232"/>
            <a:ext cx="621792" cy="621792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14" name="Text 12"/>
          <p:cNvSpPr/>
          <p:nvPr/>
        </p:nvSpPr>
        <p:spPr>
          <a:xfrm>
            <a:off x="4357116" y="18562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6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68" dirty="0"/>
          </a:p>
        </p:txBody>
      </p:sp>
      <p:sp>
        <p:nvSpPr>
          <p:cNvPr id="15" name="Text 13"/>
          <p:cNvSpPr/>
          <p:nvPr/>
        </p:nvSpPr>
        <p:spPr>
          <a:xfrm>
            <a:off x="3538728" y="2651760"/>
            <a:ext cx="2258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Gaussian Naive Bayes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93008" y="3227832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naive_bayes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84448" y="3657600"/>
            <a:ext cx="21671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phân loại xác suất.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54496" y="1600200"/>
            <a:ext cx="2532888" cy="3429000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10044" y="1856232"/>
            <a:ext cx="621792" cy="621792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20" name="Text 18"/>
          <p:cNvSpPr/>
          <p:nvPr/>
        </p:nvSpPr>
        <p:spPr>
          <a:xfrm>
            <a:off x="7210044" y="18562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6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68" dirty="0"/>
          </a:p>
        </p:txBody>
      </p:sp>
      <p:sp>
        <p:nvSpPr>
          <p:cNvPr id="21" name="Text 19"/>
          <p:cNvSpPr/>
          <p:nvPr/>
        </p:nvSpPr>
        <p:spPr>
          <a:xfrm>
            <a:off x="6391656" y="2651760"/>
            <a:ext cx="2258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 Vector Machine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45936" y="3227832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svm_rbf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37376" y="3657600"/>
            <a:ext cx="21671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Tối ưu khoảng cách biên, sử dụng Kernel RBF.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107424" y="1600200"/>
            <a:ext cx="2532888" cy="3429000"/>
          </a:xfrm>
          <a:prstGeom prst="roundRect">
            <a:avLst>
              <a:gd name="adj" fmla="val 2888"/>
            </a:avLst>
          </a:prstGeom>
          <a:solidFill>
            <a:srgbClr val="1B3B6F"/>
          </a:solidFill>
          <a:ln/>
        </p:spPr>
      </p:sp>
      <p:sp>
        <p:nvSpPr>
          <p:cNvPr id="25" name="Shape 23"/>
          <p:cNvSpPr/>
          <p:nvPr/>
        </p:nvSpPr>
        <p:spPr>
          <a:xfrm>
            <a:off x="10062972" y="1856232"/>
            <a:ext cx="621792" cy="621792"/>
          </a:xfrm>
          <a:prstGeom prst="ellipse">
            <a:avLst/>
          </a:prstGeom>
          <a:solidFill>
            <a:srgbClr val="C8323F"/>
          </a:solidFill>
          <a:ln/>
        </p:spPr>
      </p:sp>
      <p:sp>
        <p:nvSpPr>
          <p:cNvPr id="26" name="Text 24"/>
          <p:cNvSpPr/>
          <p:nvPr/>
        </p:nvSpPr>
        <p:spPr>
          <a:xfrm>
            <a:off x="10062972" y="18562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6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68" dirty="0"/>
          </a:p>
        </p:txBody>
      </p:sp>
      <p:sp>
        <p:nvSpPr>
          <p:cNvPr id="27" name="Text 25"/>
          <p:cNvSpPr/>
          <p:nvPr/>
        </p:nvSpPr>
        <p:spPr>
          <a:xfrm>
            <a:off x="9244584" y="2651760"/>
            <a:ext cx="2258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198864" y="3227832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random_forest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90304" y="3657600"/>
            <a:ext cx="21671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E4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tập hợp cây quyết định (Ensemble Bagging).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688068" y="4572000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C8323F"/>
          </a:solidFill>
          <a:ln/>
        </p:spPr>
      </p:sp>
      <p:sp>
        <p:nvSpPr>
          <p:cNvPr id="11" name="Text 9"/>
          <p:cNvSpPr/>
          <p:nvPr/>
        </p:nvSpPr>
        <p:spPr>
          <a:xfrm>
            <a:off x="9688068" y="4572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CHỌN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2578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Kỹ thuật đánh giá:  </a:t>
            </a:r>
            <a:r>
              <a:rPr lang="en-US" sz="12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trên tập Train, chọn hyperparameters bằng </a:t>
            </a:r>
            <a:r>
              <a:rPr lang="en-US" sz="125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GridSearchCV</a:t>
            </a:r>
            <a:r>
              <a:rPr lang="en-US" sz="12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tối ưu trực tiếp theo chỉ số </a:t>
            </a:r>
            <a:r>
              <a:rPr lang="en-US" sz="125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recall</a:t>
            </a:r>
            <a:r>
              <a:rPr lang="en-US" sz="12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(không phải accuracy), vì dữ liệu mất cân bằng nặng.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 &amp; CHỌN MÔ HÌNH TỐI ƯU (1/2)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evaluate.py — kết quả trên tập Test (1,022 mẫu, 50 ca stroke) của dữ liệu thật Kaggle (ai-models/models/comparison.json)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8100000" y="1400000"/>
            <a:ext cx="3540312" cy="12500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/>
        </p:spPr>
      </p:sp>
      <p:sp>
        <p:nvSpPr>
          <p:cNvPr id="7" name="Text 4"/>
          <p:cNvSpPr/>
          <p:nvPr/>
        </p:nvSpPr>
        <p:spPr>
          <a:xfrm>
            <a:off x="8250000" y="1500000"/>
            <a:ext cx="3240312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model nào đạt ngưỡng Precision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8250000" y="1800000"/>
            <a:ext cx="3240312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6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của logistic_regression 0.1342, svm_rbf 0.1238, random_forest 0.1357 đều dưới ngưỡng 0.15; naive_bayes chỉ 0.0641 (Recall 0.98 nhưng gần như đoán tất cả là 1).</a:t>
            </a:r>
            <a:endParaRPr lang="en-US" sz="960" dirty="0"/>
          </a:p>
        </p:txBody>
      </p:sp>
      <p:sp>
        <p:nvSpPr>
          <p:cNvPr id="9" name="Shape 6"/>
          <p:cNvSpPr/>
          <p:nvPr/>
        </p:nvSpPr>
        <p:spPr>
          <a:xfrm>
            <a:off x="8100000" y="2775000"/>
            <a:ext cx="3540312" cy="12500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/>
        </p:spPr>
      </p:sp>
      <p:sp>
        <p:nvSpPr>
          <p:cNvPr id="10" name="Text 7"/>
          <p:cNvSpPr/>
          <p:nvPr/>
        </p:nvSpPr>
        <p:spPr>
          <a:xfrm>
            <a:off x="8250000" y="2875000"/>
            <a:ext cx="3240312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 cao nhất: random_forest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250000" y="3175000"/>
            <a:ext cx="3240312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6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random_forest đạt F1 0.2303 (Precision 0.1357, Recall test 0.76), nhỉnh hơn logistic_regression (0.2299) và svm_rbf (0.2137). CV Recall 0.6986 → test 0.76, không có dấu hiệu overfit.</a:t>
            </a:r>
            <a:endParaRPr lang="en-US" sz="960" dirty="0"/>
          </a:p>
        </p:txBody>
      </p:sp>
      <p:sp>
        <p:nvSpPr>
          <p:cNvPr id="12" name="Shape 9"/>
          <p:cNvSpPr/>
          <p:nvPr/>
        </p:nvSpPr>
        <p:spPr>
          <a:xfrm>
            <a:off x="8100000" y="4150000"/>
            <a:ext cx="3540312" cy="12500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/>
        </p:spPr>
      </p:sp>
      <p:sp>
        <p:nvSpPr>
          <p:cNvPr id="13" name="Text 10"/>
          <p:cNvSpPr/>
          <p:nvPr/>
        </p:nvSpPr>
        <p:spPr>
          <a:xfrm>
            <a:off x="8250000" y="4250000"/>
            <a:ext cx="3240312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Nhẹ, nhanh, bền với ngoại lai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250000" y="4550000"/>
            <a:ext cx="3240312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6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Rừng cây quyết định học được quan hệ phi tuyến, không nhạy thang đo/ngoại lai. Suy luận ~0.057 ms/mẫu, file 479 KB; ROC-AUC 0.8254 (logistic_regression cao hơn: 0.8416).</a:t>
            </a:r>
            <a:endParaRPr lang="en-US" sz="960" dirty="0"/>
          </a:p>
        </p:txBody>
      </p:sp>
      <p:sp>
        <p:nvSpPr>
          <p:cNvPr id="15" name="Shape 12"/>
          <p:cNvSpPr/>
          <p:nvPr/>
        </p:nvSpPr>
        <p:spPr>
          <a:xfrm>
            <a:off x="548640" y="5500000"/>
            <a:ext cx="11091672" cy="820000"/>
          </a:xfrm>
          <a:prstGeom prst="roundRect">
            <a:avLst>
              <a:gd name="adj" fmla="val 7000"/>
            </a:avLst>
          </a:prstGeom>
          <a:solidFill>
            <a:srgbClr val="FBF2DD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" y="5500000"/>
            <a:ext cx="10634472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Lưu ý:  </a:t>
            </a:r>
            <a:r>
              <a:rPr lang="en-US" sz="11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chọn cuối cùng: </a:t>
            </a:r>
            <a:r>
              <a:rPr lang="en-US" sz="11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r>
              <a:rPr lang="en-US" sz="11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(Ensemble Bagging) với F1 0.2303 cao nhất tập Test, bắt đúng 38/50 ca stroke. Hạn chế: Precision chỉ ~0.14 — nhiều báo động giả do dữ liệu mất cân bằng nặng, nên dùng như công cụ sàng lọc.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9" name="Rounded Rectangle 18"/>
          <p:cNvSpPr/>
          <p:nvPr/>
        </p:nvSpPr>
        <p:spPr>
          <a:xfrm>
            <a:off x="548640" y="1400000"/>
            <a:ext cx="7350000" cy="4000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1790932903930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00" y="1515024"/>
            <a:ext cx="7170000" cy="340995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0000" y="5000000"/>
            <a:ext cx="7000000" cy="2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919" b="0" i="1">
                <a:solidFill>
                  <a:srgbClr val="6B7280"/>
                </a:solidFill>
                <a:latin typeface="Calibri"/>
              </a:rPr>
              <a:t>Hình 7 — Bảng so sánh 4 model và baseline trên tập 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000" y="5200000"/>
            <a:ext cx="70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000" b="0" i="0">
                <a:solidFill>
                  <a:srgbClr val="34383D"/>
                </a:solidFill>
                <a:latin typeface="Calibri"/>
              </a:rPr>
              <a:t>Metric chính là F1; ngưỡng Precision ≥ 0.15 chưa model nào đạt nên hệ thống chọn theo F1 (fallback).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 &amp; CHỌN MÔ HÌNH TỐI ƯU (2/2)</a:t>
            </a:r>
            <a:endParaRPr lang="en-US" sz="2700" dirty="0"/>
          </a:p>
        </p:txBody>
      </p:sp>
      <p:sp>
        <p:nvSpPr>
          <p:cNvPr id="17" name="Text 14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9" name="Rounded Rectangle 18"/>
          <p:cNvSpPr/>
          <p:nvPr/>
        </p:nvSpPr>
        <p:spPr>
          <a:xfrm>
            <a:off x="548640" y="1143000"/>
            <a:ext cx="6400800" cy="516636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31520" y="1325880"/>
            <a:ext cx="6035040" cy="31000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 w="12700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07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00" y="1416536"/>
            <a:ext cx="5900000" cy="291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1520" y="4500000"/>
            <a:ext cx="6035040" cy="2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919" b="0" i="1">
                <a:solidFill>
                  <a:srgbClr val="6B7280"/>
                </a:solidFill>
                <a:latin typeface="Calibri"/>
              </a:rPr>
              <a:t>Hình 8 — So sánh Recall, Precision, F1, ROC-AUC của các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820000"/>
            <a:ext cx="603504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1250" b="1" i="0">
                <a:solidFill>
                  <a:srgbClr val="12274A"/>
                </a:solidFill>
                <a:latin typeface="Cambria"/>
              </a:rPr>
              <a:t>8. So sánh hiệu năng các mô hình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70000"/>
            <a:ext cx="603504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019" b="1" i="0">
                <a:solidFill>
                  <a:srgbClr val="1B3B6F"/>
                </a:solidFill>
                <a:latin typeface="Calibri"/>
              </a:rPr>
              <a:t>Quan sát: </a:t>
            </a:r>
            <a:r>
              <a:rPr sz="1019" b="0" i="0">
                <a:solidFill>
                  <a:srgbClr val="34383D"/>
                </a:solidFill>
                <a:latin typeface="Calibri"/>
              </a:rPr>
              <a:t>baseline_dummy chỉ đạt ROC-AUC 0.50. naive_bayes có Recall cao nhất (~0.98) nhưng Precision và F1 thấp nhất. logistic_regression, svm_rbf, random_forest có ROC-AUC 0.82–0.84 và F1 ~0.21–0.23.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760000"/>
            <a:ext cx="603504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019" b="1" i="0">
                <a:solidFill>
                  <a:srgbClr val="1E6B3C"/>
                </a:solidFill>
                <a:latin typeface="Calibri"/>
              </a:rPr>
              <a:t>Quyết định: </a:t>
            </a:r>
            <a:r>
              <a:rPr sz="1019" b="0" i="0">
                <a:solidFill>
                  <a:srgbClr val="34383D"/>
                </a:solidFill>
                <a:latin typeface="Calibri"/>
              </a:rPr>
              <a:t>chọn random_forest vì F1 cao nhất, không suy biến như naive_bayes và học được quan hệ phi tuyến.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1143000"/>
            <a:ext cx="4507992" cy="516636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302320" y="1313000"/>
            <a:ext cx="4167992" cy="27500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 w="12700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08_confusion_matrix_best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673" y="1363000"/>
            <a:ext cx="3187285" cy="2650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02320" y="4120000"/>
            <a:ext cx="4167992" cy="2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919" b="0" i="1">
                <a:solidFill>
                  <a:srgbClr val="6B7280"/>
                </a:solidFill>
                <a:latin typeface="Calibri"/>
              </a:rPr>
              <a:t>Hình 9 — Confusion matrix random_forest (tập Test)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02320" y="4420000"/>
            <a:ext cx="4167992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1250" b="1" i="0">
                <a:solidFill>
                  <a:srgbClr val="12274A"/>
                </a:solidFill>
                <a:latin typeface="Cambria"/>
              </a:rPr>
              <a:t>9. Kết quả của mô hình được chọn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02320" y="4770000"/>
            <a:ext cx="4167992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019" b="1" i="0" dirty="0">
                <a:solidFill>
                  <a:srgbClr val="1B3B6F"/>
                </a:solidFill>
                <a:latin typeface="Calibri"/>
              </a:rPr>
              <a:t>Quan </a:t>
            </a:r>
            <a:r>
              <a:rPr sz="1019" b="1" i="0" dirty="0" err="1">
                <a:solidFill>
                  <a:srgbClr val="1B3B6F"/>
                </a:solidFill>
                <a:latin typeface="Calibri"/>
              </a:rPr>
              <a:t>sát</a:t>
            </a:r>
            <a:r>
              <a:rPr sz="1019" b="1" i="0" dirty="0">
                <a:solidFill>
                  <a:srgbClr val="1B3B6F"/>
                </a:solidFill>
                <a:latin typeface="Calibri"/>
              </a:rPr>
              <a:t>: 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TN 730, FP 242, FN 12, TP 38.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Bắt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đúng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38/50 ca stroke (Recall 0.76),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bỏ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sót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12 ca;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báo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nhầm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242/972 ca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âm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tính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(~25%).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02320" y="5560000"/>
            <a:ext cx="4167992" cy="6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019" b="1" i="0" dirty="0">
                <a:solidFill>
                  <a:srgbClr val="B42318"/>
                </a:solidFill>
                <a:latin typeface="Calibri"/>
              </a:rPr>
              <a:t>Ý </a:t>
            </a:r>
            <a:r>
              <a:rPr sz="1019" b="1" i="0" dirty="0" err="1">
                <a:solidFill>
                  <a:srgbClr val="B42318"/>
                </a:solidFill>
                <a:latin typeface="Calibri"/>
              </a:rPr>
              <a:t>nghĩa</a:t>
            </a:r>
            <a:r>
              <a:rPr sz="1019" b="1" i="0" dirty="0">
                <a:solidFill>
                  <a:srgbClr val="B42318"/>
                </a:solidFill>
                <a:latin typeface="Calibri"/>
              </a:rPr>
              <a:t>: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Ưu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tiên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giảm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Âm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tính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giả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(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bỏ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sót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)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đổi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lại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nhiều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báo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động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giả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—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phù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hợp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sàng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lọc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, ca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dương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tính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cần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bác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sĩ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xác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nhận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E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ĐÓNG GÓI MÔ HÌNH &amp; HỢP ĐỒNG API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4114800" cy="530352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3533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Artifacts (ai-models/models/)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1755648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EEF2F8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model.joblib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932688" y="2121408"/>
            <a:ext cx="3346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6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được chọn (StandardScaler + OneHotEncoder + Random Forest).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777240" y="2679192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EEF2F8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2770632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candidates/*.joblib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932688" y="3044952"/>
            <a:ext cx="3346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6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pipeline ứng viên đã huấn luyện, dùng để so sánh.</a:t>
            </a:r>
            <a:endParaRPr lang="en-US" sz="960" dirty="0"/>
          </a:p>
        </p:txBody>
      </p:sp>
      <p:sp>
        <p:nvSpPr>
          <p:cNvPr id="11" name="Shape 9"/>
          <p:cNvSpPr/>
          <p:nvPr/>
        </p:nvSpPr>
        <p:spPr>
          <a:xfrm>
            <a:off x="777240" y="3602736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EEF2F8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3694176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schema.json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932688" y="3968496"/>
            <a:ext cx="3346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6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định input/output validation.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777240" y="4526280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4617720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metadata.json / training_metadata.json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932688" y="4892040"/>
            <a:ext cx="3346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6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Version, metrics, ngày train, phiên bản thư viện.</a:t>
            </a:r>
            <a:endParaRPr lang="en-US" sz="960" dirty="0"/>
          </a:p>
        </p:txBody>
      </p:sp>
      <p:sp>
        <p:nvSpPr>
          <p:cNvPr id="17" name="Text 15"/>
          <p:cNvSpPr/>
          <p:nvPr/>
        </p:nvSpPr>
        <p:spPr>
          <a:xfrm>
            <a:off x="777240" y="56327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Endpoints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5907024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Service: </a:t>
            </a:r>
            <a:r>
              <a:rPr lang="en-US" sz="930" dirty="0">
                <a:solidFill>
                  <a:srgbClr val="2E7D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/predict, GET /health, /schema, /model-info
</a:t>
            </a:r>
            <a:r>
              <a:rPr lang="en-US" sz="93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</a:t>
            </a:r>
            <a:r>
              <a:rPr lang="en-US" sz="930" dirty="0">
                <a:solidFill>
                  <a:srgbClr val="2E7D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/api/predict, GET /api/schema,</a:t>
            </a:r>
            <a:endParaRPr lang="en-US" sz="93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930" dirty="0">
                <a:solidFill>
                  <a:srgbClr val="2E7D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/api/model-info, /api/history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4983480" y="1188720"/>
            <a:ext cx="6656832" cy="5303520"/>
          </a:xfrm>
          <a:prstGeom prst="roundRect">
            <a:avLst>
              <a:gd name="adj" fmla="val 1207"/>
            </a:avLst>
          </a:prstGeom>
          <a:solidFill>
            <a:srgbClr val="12274A"/>
          </a:solidFill>
          <a:ln/>
        </p:spPr>
      </p:sp>
      <p:sp>
        <p:nvSpPr>
          <p:cNvPr id="20" name="Text 18"/>
          <p:cNvSpPr/>
          <p:nvPr/>
        </p:nvSpPr>
        <p:spPr>
          <a:xfrm>
            <a:off x="5257800" y="1371600"/>
            <a:ext cx="6108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Hợp đồng dữ liệu FE — BE — AI Service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257800" y="1874520"/>
            <a:ext cx="6108192" cy="2423160"/>
          </a:xfrm>
          <a:prstGeom prst="roundRect">
            <a:avLst>
              <a:gd name="adj" fmla="val 2264"/>
            </a:avLst>
          </a:prstGeom>
          <a:solidFill>
            <a:srgbClr val="0E1D38"/>
          </a:solidFill>
          <a:ln/>
        </p:spPr>
      </p:sp>
      <p:sp>
        <p:nvSpPr>
          <p:cNvPr id="22" name="Text 20"/>
          <p:cNvSpPr/>
          <p:nvPr/>
        </p:nvSpPr>
        <p:spPr>
          <a:xfrm>
            <a:off x="5440680" y="1975104"/>
            <a:ext cx="574243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POST /api/predict  (Request)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"features": {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"gender": "Male", "age": 67.0,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"hypertension": 0, "heart_disease": 1,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"ever_married": "Yes", "work_type": "Private",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"Residence_type": "Urban",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"avg_glucose_level": 228.69, "bmi": 36.6,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"smoking_status": "formerly smoked"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5257800" y="4434840"/>
            <a:ext cx="6108192" cy="1600200"/>
          </a:xfrm>
          <a:prstGeom prst="roundRect">
            <a:avLst>
              <a:gd name="adj" fmla="val 3429"/>
            </a:avLst>
          </a:prstGeom>
          <a:solidFill>
            <a:srgbClr val="0E1D38"/>
          </a:solidFill>
          <a:ln/>
        </p:spPr>
      </p:sp>
      <p:sp>
        <p:nvSpPr>
          <p:cNvPr id="24" name="Text 22"/>
          <p:cNvSpPr/>
          <p:nvPr/>
        </p:nvSpPr>
        <p:spPr>
          <a:xfrm>
            <a:off x="5440680" y="4544568"/>
            <a:ext cx="57424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Response (200 OK)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"prediction": 1,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"probability": 0.78,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"risk_level": "High Risk",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"model_version": "1.0.0",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"request_id": "req-7f3a9b12"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30" dirty="0"/>
          </a:p>
        </p:txBody>
      </p:sp>
      <p:sp>
        <p:nvSpPr>
          <p:cNvPr id="25" name="Text 23"/>
          <p:cNvSpPr/>
          <p:nvPr/>
        </p:nvSpPr>
        <p:spPr>
          <a:xfrm>
            <a:off x="5257800" y="6144768"/>
            <a:ext cx="6108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30" i="1" dirty="0">
                <a:solidFill>
                  <a:srgbClr val="9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cũng cung cấp GET /api/predictions làm alias tương thích cho /api/history.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HỆ THỐNG DOCKER (3-TIER CONTAINER)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— 3 container nối chung mạng stroke-net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392424" cy="2103120"/>
          </a:xfrm>
          <a:prstGeom prst="roundRect">
            <a:avLst>
              <a:gd name="adj" fmla="val 3478"/>
            </a:avLst>
          </a:prstGeom>
          <a:solidFill>
            <a:srgbClr val="EEF2F8"/>
          </a:solidFill>
          <a:ln w="19050">
            <a:solidFill>
              <a:srgbClr val="1B3B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3026664" cy="384048"/>
          </a:xfrm>
          <a:prstGeom prst="roundRect">
            <a:avLst>
              <a:gd name="adj" fmla="val 19048"/>
            </a:avLst>
          </a:prstGeom>
          <a:solidFill>
            <a:srgbClr val="1B3B6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21284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B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  3000 : 80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2935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0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(Vite) / Nginx — form nhập liệu tự động từ schema.json qua Backend GET /api/schema.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995928" y="2468880"/>
            <a:ext cx="347472" cy="274320"/>
          </a:xfrm>
          <a:prstGeom prst="rightArrow">
            <a:avLst/>
          </a:prstGeom>
          <a:solidFill>
            <a:srgbClr val="D6DDE8"/>
          </a:solidFill>
          <a:ln/>
        </p:spPr>
      </p:sp>
      <p:sp>
        <p:nvSpPr>
          <p:cNvPr id="10" name="Shape 8"/>
          <p:cNvSpPr/>
          <p:nvPr/>
        </p:nvSpPr>
        <p:spPr>
          <a:xfrm>
            <a:off x="4398264" y="1554480"/>
            <a:ext cx="3392424" cy="2103120"/>
          </a:xfrm>
          <a:prstGeom prst="roundRect">
            <a:avLst>
              <a:gd name="adj" fmla="val 3478"/>
            </a:avLst>
          </a:prstGeom>
          <a:solidFill>
            <a:srgbClr val="EEF2F8"/>
          </a:solidFill>
          <a:ln w="19050">
            <a:solidFill>
              <a:srgbClr val="C8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81144" y="1737360"/>
            <a:ext cx="3026664" cy="384048"/>
          </a:xfrm>
          <a:prstGeom prst="roundRect">
            <a:avLst>
              <a:gd name="adj" fmla="val 19048"/>
            </a:avLst>
          </a:prstGeom>
          <a:solidFill>
            <a:srgbClr val="C8323F"/>
          </a:solidFill>
          <a:ln/>
        </p:spPr>
      </p:sp>
      <p:sp>
        <p:nvSpPr>
          <p:cNvPr id="12" name="Text 10"/>
          <p:cNvSpPr/>
          <p:nvPr/>
        </p:nvSpPr>
        <p:spPr>
          <a:xfrm>
            <a:off x="4581144" y="1737360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81144" y="221284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  8000 : 8000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26864" y="2560320"/>
            <a:ext cx="2935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0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/ Express — validate input, lưu lịch sử vào MongoDB Atlas, gọi AI Service.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552" y="2468880"/>
            <a:ext cx="347472" cy="274320"/>
          </a:xfrm>
          <a:prstGeom prst="rightArrow">
            <a:avLst/>
          </a:prstGeom>
          <a:solidFill>
            <a:srgbClr val="D6DDE8"/>
          </a:solidFill>
          <a:ln/>
        </p:spPr>
      </p:sp>
      <p:sp>
        <p:nvSpPr>
          <p:cNvPr id="16" name="Shape 14"/>
          <p:cNvSpPr/>
          <p:nvPr/>
        </p:nvSpPr>
        <p:spPr>
          <a:xfrm>
            <a:off x="8247888" y="1554480"/>
            <a:ext cx="3392424" cy="2103120"/>
          </a:xfrm>
          <a:prstGeom prst="roundRect">
            <a:avLst>
              <a:gd name="adj" fmla="val 3478"/>
            </a:avLst>
          </a:prstGeom>
          <a:solidFill>
            <a:srgbClr val="EEF2F8"/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30768" y="1737360"/>
            <a:ext cx="3026664" cy="384048"/>
          </a:xfrm>
          <a:prstGeom prst="roundRect">
            <a:avLst>
              <a:gd name="adj" fmla="val 19048"/>
            </a:avLst>
          </a:prstGeom>
          <a:solidFill>
            <a:srgbClr val="2E7D5B"/>
          </a:solidFill>
          <a:ln/>
        </p:spPr>
      </p:sp>
      <p:sp>
        <p:nvSpPr>
          <p:cNvPr id="18" name="Text 16"/>
          <p:cNvSpPr/>
          <p:nvPr/>
        </p:nvSpPr>
        <p:spPr>
          <a:xfrm>
            <a:off x="8430768" y="1737360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ai-service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30768" y="221284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  8001 : 8001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76488" y="2560320"/>
            <a:ext cx="2935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0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nạp model.joblib ngay khi container khởi động.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388620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</a:t>
            </a:r>
            <a:r>
              <a:rPr lang="en-US" sz="11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nằm trong docker-compose — cần MongoDB Atlas hoặc DB truy cập được từ container backend qua biến MONGODB_URI trong .env. Nếu chưa cấu hình, API dự đoán vẫn chạy nhưng lịch sử không được lưu.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45720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Đảm bảo vận hành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983480"/>
            <a:ext cx="5385816" cy="1234440"/>
          </a:xfrm>
          <a:prstGeom prst="roundRect">
            <a:avLst>
              <a:gd name="adj" fmla="val 5185"/>
            </a:avLst>
          </a:prstGeom>
          <a:solidFill>
            <a:srgbClr val="E1EFE8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4983480"/>
            <a:ext cx="48737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Healthcheck:  </a:t>
            </a:r>
            <a:r>
              <a:rPr lang="en-US" sz="11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lập healthcheck trên cả 3 container (GET /health).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54496" y="4983480"/>
            <a:ext cx="5385816" cy="1234440"/>
          </a:xfrm>
          <a:prstGeom prst="roundRect">
            <a:avLst>
              <a:gd name="adj" fmla="val 5185"/>
            </a:avLst>
          </a:prstGeom>
          <a:solidFill>
            <a:srgbClr val="E1EFE8"/>
          </a:solidFill>
          <a:ln/>
        </p:spPr>
      </p:sp>
      <p:sp>
        <p:nvSpPr>
          <p:cNvPr id="26" name="Text 24"/>
          <p:cNvSpPr/>
          <p:nvPr/>
        </p:nvSpPr>
        <p:spPr>
          <a:xfrm>
            <a:off x="6510528" y="4983480"/>
            <a:ext cx="48737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nội bộ:  </a:t>
            </a:r>
            <a:r>
              <a:rPr lang="en-US" sz="11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giao tiếp qua tên service nội bộ (http://ai-service:8001), không gán cứng localhost.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E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TRIỂN KHAI PUBLIC &amp; QUẢN LÝ LOG TẬP TRUNG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4937760" cy="530352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3716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án triển khai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1755648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Frontend: </a:t>
            </a:r>
            <a:r>
              <a:rPr lang="en-US" sz="11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tạm qua ngrok tunnel; có thể deploy Vercel (cần cấu hình proxy /api tới Backend).
</a:t>
            </a: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Backend &amp; AI Service: </a:t>
            </a:r>
            <a:r>
              <a:rPr lang="en-US" sz="11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Docker Compose local; có thể deploy dạng Docker Web Service trên Render.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77240" y="32461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online hiện tại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3566160"/>
            <a:ext cx="4480560" cy="777240"/>
          </a:xfrm>
          <a:prstGeom prst="roundRect">
            <a:avLst>
              <a:gd name="adj" fmla="val 7059"/>
            </a:avLst>
          </a:prstGeom>
          <a:solidFill>
            <a:srgbClr val="EEF2F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63931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B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revolving-unthawed-arguable</a:t>
            </a:r>
            <a:endParaRPr lang="en-US" sz="11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B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.ngrok-free.dev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4526280"/>
            <a:ext cx="4480560" cy="1783080"/>
          </a:xfrm>
          <a:prstGeom prst="roundRect">
            <a:avLst>
              <a:gd name="adj" fmla="val 3590"/>
            </a:avLst>
          </a:prstGeom>
          <a:solidFill>
            <a:srgbClr val="F6E2E3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4526280"/>
            <a:ext cx="4023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C8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Khả năng quan sát:  </a:t>
            </a:r>
            <a:r>
              <a:rPr lang="en-US" sz="108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request sinh một </a:t>
            </a:r>
            <a:r>
              <a:rPr lang="en-US" sz="108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r>
              <a:rPr lang="en-US" sz="108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duy nhất, truyền xuyên suốt qua cả 3 service để tra vết end-to-end.
</a:t>
            </a:r>
            <a:r>
              <a:rPr lang="en-US" sz="1080" b="1" dirty="0">
                <a:solidFill>
                  <a:srgbClr val="C8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Nhật ký gần nhất: </a:t>
            </a:r>
            <a:r>
              <a:rPr lang="en-US" sz="108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27/09/2026 — cập nhật link ngrok Frontend, Backend/AI Service chưa public trực tiếp trong tunnel này.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806440" y="1188720"/>
            <a:ext cx="5833872" cy="5303520"/>
          </a:xfrm>
          <a:prstGeom prst="roundRect">
            <a:avLst>
              <a:gd name="adj" fmla="val 1207"/>
            </a:avLst>
          </a:prstGeom>
          <a:solidFill>
            <a:srgbClr val="0E1D38"/>
          </a:solidFill>
          <a:ln/>
        </p:spPr>
      </p:sp>
      <p:sp>
        <p:nvSpPr>
          <p:cNvPr id="12" name="Text 10"/>
          <p:cNvSpPr/>
          <p:nvPr/>
        </p:nvSpPr>
        <p:spPr>
          <a:xfrm>
            <a:off x="6080760" y="1389888"/>
            <a:ext cx="5285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Tracing với request_id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80760" y="1965960"/>
            <a:ext cx="5285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60" dirty="0">
                <a:solidFill>
                  <a:srgbClr val="6B8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[10:15:02] INFO  </a:t>
            </a:r>
            <a:r>
              <a:rPr lang="en-US" sz="960" b="1" dirty="0">
                <a:solidFill>
                  <a:srgbClr val="F9E7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    </a:t>
            </a:r>
            <a:r>
              <a:rPr lang="en-US" sz="96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req=7f3a  User submitted form -&gt; POST /api/predict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6080760" y="2788920"/>
            <a:ext cx="5285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60" dirty="0">
                <a:solidFill>
                  <a:srgbClr val="6B8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[10:15:02] INFO  </a:t>
            </a:r>
            <a:r>
              <a:rPr lang="en-US" sz="960" b="1" dirty="0">
                <a:solidFill>
                  <a:srgbClr val="F9E7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     </a:t>
            </a:r>
            <a:r>
              <a:rPr lang="en-US" sz="96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req=7f3a  Validate Schema OK -&gt; Calling ai-service:8001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6080760" y="3611880"/>
            <a:ext cx="5285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60" dirty="0">
                <a:solidFill>
                  <a:srgbClr val="6B8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[10:15:02] INFO  </a:t>
            </a:r>
            <a:r>
              <a:rPr lang="en-US" sz="960" b="1" dirty="0">
                <a:solidFill>
                  <a:srgbClr val="F9E7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ai-service  </a:t>
            </a:r>
            <a:r>
              <a:rPr lang="en-US" sz="96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req=7f3a  Model Predict: Class 1 (p=0.78) in 1ms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6080760" y="4434840"/>
            <a:ext cx="5285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60" dirty="0">
                <a:solidFill>
                  <a:srgbClr val="6B8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[10:15:02] INFO  </a:t>
            </a:r>
            <a:r>
              <a:rPr lang="en-US" sz="960" b="1" dirty="0">
                <a:solidFill>
                  <a:srgbClr val="F9E7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     </a:t>
            </a:r>
            <a:r>
              <a:rPr lang="en-US" sz="96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req=7f3a  Saved history to MongoDB Atlas -&gt; 200 OK (Total: 45ms)</a:t>
            </a:r>
            <a:endParaRPr lang="en-US" sz="960" dirty="0"/>
          </a:p>
        </p:txBody>
      </p:sp>
      <p:sp>
        <p:nvSpPr>
          <p:cNvPr id="17" name="Text 15"/>
          <p:cNvSpPr/>
          <p:nvPr/>
        </p:nvSpPr>
        <p:spPr>
          <a:xfrm>
            <a:off x="6080760" y="6035040"/>
            <a:ext cx="5285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thay đổi cổng/tunnel đầy đủ: mục 12, README.md.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THỬ HIỆU NĂNG &amp; TẢI TRỌNG (LOAD TESTING)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Kịch bản (k6 2.3.0, predict.js):  </a:t>
            </a:r>
            <a:r>
              <a:rPr lang="en-US" sz="13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virtual users gửi request liên tục trong 1 phút, qua Frontend/Nginx tới endpoint </a:t>
            </a:r>
            <a:r>
              <a:rPr lang="en-US" sz="135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/api/predict</a:t>
            </a:r>
            <a:r>
              <a:rPr lang="en-US" sz="13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chạy cục bộ ngày 27/09/2026.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998878" cy="2743200"/>
          </a:xfrm>
          <a:prstGeom prst="roundRect">
            <a:avLst>
              <a:gd name="adj" fmla="val 3660"/>
            </a:avLst>
          </a:prstGeom>
          <a:solidFill>
            <a:srgbClr val="EEF2F8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1998878" cy="73152"/>
          </a:xfrm>
          <a:prstGeom prst="rect">
            <a:avLst/>
          </a:prstGeom>
          <a:solidFill>
            <a:srgbClr val="1B3B6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468880"/>
            <a:ext cx="18159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4,870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85800" y="3291840"/>
            <a:ext cx="17245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số request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4069080"/>
            <a:ext cx="1724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VU / 1 phút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821838" y="2011680"/>
            <a:ext cx="1998878" cy="2743200"/>
          </a:xfrm>
          <a:prstGeom prst="roundRect">
            <a:avLst>
              <a:gd name="adj" fmla="val 3660"/>
            </a:avLst>
          </a:prstGeom>
          <a:solidFill>
            <a:srgbClr val="EEF2F8"/>
          </a:solidFill>
          <a:ln/>
        </p:spPr>
      </p:sp>
      <p:sp>
        <p:nvSpPr>
          <p:cNvPr id="10" name="Shape 8"/>
          <p:cNvSpPr/>
          <p:nvPr/>
        </p:nvSpPr>
        <p:spPr>
          <a:xfrm>
            <a:off x="2821838" y="2011680"/>
            <a:ext cx="1998878" cy="73152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1" name="Text 9"/>
          <p:cNvSpPr/>
          <p:nvPr/>
        </p:nvSpPr>
        <p:spPr>
          <a:xfrm>
            <a:off x="2913278" y="2468880"/>
            <a:ext cx="18159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958998" y="3291840"/>
            <a:ext cx="17245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Tỷ lệ lỗi (Error Rate)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958998" y="4069080"/>
            <a:ext cx="1724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ngưỡng &lt; 1% — đạt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95037" y="2011680"/>
            <a:ext cx="1998878" cy="2743200"/>
          </a:xfrm>
          <a:prstGeom prst="roundRect">
            <a:avLst>
              <a:gd name="adj" fmla="val 3660"/>
            </a:avLst>
          </a:prstGeom>
          <a:solidFill>
            <a:srgbClr val="EEF2F8"/>
          </a:solidFill>
          <a:ln/>
        </p:spPr>
      </p:sp>
      <p:sp>
        <p:nvSpPr>
          <p:cNvPr id="15" name="Shape 13"/>
          <p:cNvSpPr/>
          <p:nvPr/>
        </p:nvSpPr>
        <p:spPr>
          <a:xfrm>
            <a:off x="5095037" y="2011680"/>
            <a:ext cx="1998878" cy="73152"/>
          </a:xfrm>
          <a:prstGeom prst="rect">
            <a:avLst/>
          </a:prstGeom>
          <a:solidFill>
            <a:srgbClr val="1B3B6F"/>
          </a:solidFill>
          <a:ln/>
        </p:spPr>
      </p:sp>
      <p:sp>
        <p:nvSpPr>
          <p:cNvPr id="16" name="Text 14"/>
          <p:cNvSpPr/>
          <p:nvPr/>
        </p:nvSpPr>
        <p:spPr>
          <a:xfrm>
            <a:off x="5186477" y="2468880"/>
            <a:ext cx="18159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184.7 ms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232197" y="3291840"/>
            <a:ext cx="17245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trễ trung bình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232197" y="4069080"/>
            <a:ext cx="1724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nối MongoDB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68235" y="2011680"/>
            <a:ext cx="1998878" cy="2743200"/>
          </a:xfrm>
          <a:prstGeom prst="roundRect">
            <a:avLst>
              <a:gd name="adj" fmla="val 3660"/>
            </a:avLst>
          </a:prstGeom>
          <a:solidFill>
            <a:srgbClr val="EE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7368235" y="2011680"/>
            <a:ext cx="1998878" cy="73152"/>
          </a:xfrm>
          <a:prstGeom prst="rect">
            <a:avLst/>
          </a:prstGeom>
          <a:solidFill>
            <a:srgbClr val="C8323F"/>
          </a:solidFill>
          <a:ln/>
        </p:spPr>
      </p:sp>
      <p:sp>
        <p:nvSpPr>
          <p:cNvPr id="21" name="Text 19"/>
          <p:cNvSpPr/>
          <p:nvPr/>
        </p:nvSpPr>
        <p:spPr>
          <a:xfrm>
            <a:off x="7459675" y="2468880"/>
            <a:ext cx="18159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83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281.3 ms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505395" y="3291840"/>
            <a:ext cx="17245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p95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505395" y="4069080"/>
            <a:ext cx="1724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ngưỡng &lt; 2.0s — đạt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641434" y="2011680"/>
            <a:ext cx="1998878" cy="2743200"/>
          </a:xfrm>
          <a:prstGeom prst="roundRect">
            <a:avLst>
              <a:gd name="adj" fmla="val 3660"/>
            </a:avLst>
          </a:prstGeom>
          <a:solidFill>
            <a:srgbClr val="EEF2F8"/>
          </a:solidFill>
          <a:ln/>
        </p:spPr>
      </p:sp>
      <p:sp>
        <p:nvSpPr>
          <p:cNvPr id="25" name="Shape 23"/>
          <p:cNvSpPr/>
          <p:nvPr/>
        </p:nvSpPr>
        <p:spPr>
          <a:xfrm>
            <a:off x="9641434" y="2011680"/>
            <a:ext cx="1998878" cy="73152"/>
          </a:xfrm>
          <a:prstGeom prst="rect">
            <a:avLst/>
          </a:prstGeom>
          <a:solidFill>
            <a:srgbClr val="1B3B6F"/>
          </a:solidFill>
          <a:ln/>
        </p:spPr>
      </p:sp>
      <p:sp>
        <p:nvSpPr>
          <p:cNvPr id="26" name="Text 24"/>
          <p:cNvSpPr/>
          <p:nvPr/>
        </p:nvSpPr>
        <p:spPr>
          <a:xfrm>
            <a:off x="9732874" y="2468880"/>
            <a:ext cx="18159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81.0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778594" y="3291840"/>
            <a:ext cx="17245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(RPS)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778594" y="4069080"/>
            <a:ext cx="1724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/ giây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892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trễ tối đa ghi nhận: 562.94 ms.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6364"/>
            </a:avLst>
          </a:prstGeom>
          <a:solidFill>
            <a:srgbClr val="E1EFE8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52578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luận:  </a:t>
            </a:r>
            <a:r>
              <a:rPr lang="en-US" sz="11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Đạt cả 2 ngưỡng phi chức năng (p95 &lt; 2s, lỗi &lt; 1%). Đây là kết quả trên máy local, chưa kết nối MongoDB Atlas nên chưa bao gồm độ trễ lưu lịch sử — không đại diện cho hiệu năng khi deploy public.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3011</Words>
  <Application>Microsoft Office PowerPoint</Application>
  <PresentationFormat>Widescreen</PresentationFormat>
  <Paragraphs>257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Nguyen Phong</cp:lastModifiedBy>
  <cp:revision>1</cp:revision>
  <dcterms:created xsi:type="dcterms:W3CDTF">2026-09-27T16:19:54Z</dcterms:created>
  <dcterms:modified xsi:type="dcterms:W3CDTF">2026-10-02T09:45:14Z</dcterms:modified>
</cp:coreProperties>
</file>